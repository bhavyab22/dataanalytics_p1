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drawings/drawing1.xml" ContentType="application/vnd.openxmlformats-officedocument.drawingml.chartshapes+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notesSlides/notesSlide6.xml" ContentType="application/vnd.openxmlformats-officedocument.presentationml.notesSlide+xml"/>
  <Default Extension="xlsx" ContentType="application/vnd.openxmlformats-officedocument.spreadsheetml.sheet"/>
  <Override PartName="/ppt/notesSlides/notesSlide7.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viewProps.xml" ContentType="application/vnd.openxmlformats-officedocument.presentationml.viewProps+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1" d="100"/>
          <a:sy n="91" d="100"/>
        </p:scale>
        <p:origin x="-702" y="-102"/>
      </p:cViewPr>
      <p:guideLst>
        <p:guide orient="horz" pos="1620"/>
        <p:guide pos="288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package" Target="../embeddings/Microsoft_Office_Excel_Worksheet1.xlsx"/></Relationships>
</file>

<file path=ppt/charts/chart1.xml><?xml version="1.0" encoding="utf-8"?>
<c:chartSpace xmlns:c="http://schemas.openxmlformats.org/drawingml/2006/chart" xmlns:a="http://schemas.openxmlformats.org/drawingml/2006/main" xmlns:r="http://schemas.openxmlformats.org/officeDocument/2006/relationships">
  <c:lang val="en-US"/>
  <c:roundedCorners val="1"/>
  <c:chart>
    <c:title>
      <c:tx>
        <c:rich>
          <a:bodyPr/>
          <a:lstStyle/>
          <a:p>
            <a:pPr>
              <a:defRPr sz="1800" b="0" i="0" u="none" strike="noStrike">
                <a:solidFill>
                  <a:srgbClr val="000000"/>
                </a:solidFill>
                <a:latin typeface="Arial"/>
              </a:defRPr>
            </a:pPr>
            <a:r>
              <a:rPr lang="en-US" sz="1800" b="0" i="0" u="none" strike="noStrike">
                <a:solidFill>
                  <a:srgbClr val="000000"/>
                </a:solidFill>
                <a:latin typeface="Arial"/>
              </a:rPr>
              <a:t>Top 10 Prescribed Medicines</a:t>
            </a:r>
          </a:p>
        </c:rich>
      </c:tx>
      <c:layout/>
    </c:title>
    <c:plotArea>
      <c:layout/>
      <c:barChart>
        <c:barDir val="bar"/>
        <c:grouping val="clustered"/>
        <c:dLbls>
          <c:showVal val="1"/>
        </c:dLbls>
        <c:axId val="170754432"/>
        <c:axId val="170755968"/>
      </c:barChart>
      <c:catAx>
        <c:axId val="170754432"/>
        <c:scaling>
          <c:orientation val="minMax"/>
        </c:scaling>
        <c:axPos val="l"/>
        <c:numFmt formatCode="General" sourceLinked="1"/>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170755968"/>
        <c:crosses val="autoZero"/>
        <c:auto val="1"/>
        <c:lblAlgn val="ctr"/>
        <c:lblOffset val="100"/>
        <c:noMultiLvlLbl val="1"/>
      </c:catAx>
      <c:valAx>
        <c:axId val="170755968"/>
        <c:scaling>
          <c:orientation val="minMax"/>
        </c:scaling>
        <c:axPos val="b"/>
        <c:majorGridlines>
          <c:spPr>
            <a:ln w="6350" cap="flat">
              <a:solidFill>
                <a:srgbClr val="E2E8F0"/>
              </a:solidFill>
              <a:prstDash val="solid"/>
              <a:round/>
            </a:ln>
          </c:spPr>
        </c:majorGridlines>
        <c:numFmt formatCode="General" sourceLinked="0"/>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170754432"/>
        <c:crosses val="autoZero"/>
        <c:crossBetween val="between"/>
      </c:valAx>
      <c:spPr>
        <a:noFill/>
        <a:ln>
          <a:noFill/>
        </a:ln>
        <a:effectLst/>
      </c:spPr>
    </c:plotArea>
    <c:plotVisOnly val="1"/>
    <c:dispBlanksAs val="span"/>
  </c:chart>
  <c:spPr>
    <a:solidFill>
      <a:srgbClr val="F8FFFE"/>
    </a:solidFill>
    <a:ln>
      <a:noFill/>
    </a:ln>
    <a:effectLst/>
  </c:spPr>
  <c:externalData r:id="rId1"/>
  <c:userShapes r:id="rId2"/>
</c:chartSpace>
</file>

<file path=ppt/drawings/_rels/drawing1.xml.rels><?xml version="1.0" encoding="UTF-8" standalone="yes"?>
<Relationships xmlns="http://schemas.openxmlformats.org/package/2006/relationships"><Relationship Id="rId1" Type="http://schemas.openxmlformats.org/officeDocument/2006/relationships/image" Target="../media/image1.png"/></Relationships>
</file>

<file path=ppt/drawings/drawing1.xml><?xml version="1.0" encoding="utf-8"?>
<c:userShapes xmlns:c="http://schemas.openxmlformats.org/drawingml/2006/chart">
  <cdr:relSizeAnchor xmlns:cdr="http://schemas.openxmlformats.org/drawingml/2006/chartDrawing">
    <cdr:from>
      <cdr:x>0</cdr:x>
      <cdr:y>0</cdr:y>
    </cdr:from>
    <cdr:to>
      <cdr:x>1</cdr:x>
      <cdr:y>1</cdr:y>
    </cdr:to>
    <cdr:pic>
      <cdr:nvPicPr>
        <cdr:cNvPr id="2" name="Picture 1"/>
        <cdr:cNvPicPr>
          <a:picLocks xmlns:a="http://schemas.openxmlformats.org/drawingml/2006/main" noChangeAspect="1" noChangeArrowheads="1"/>
        </cdr:cNvPicPr>
      </cdr:nvPicPr>
      <cdr:blipFill>
        <a:blip xmlns:a="http://schemas.openxmlformats.org/drawingml/2006/main" xmlns:r="http://schemas.openxmlformats.org/officeDocument/2006/relationships" r:embed="rId1" cstate="print"/>
        <a:srcRect xmlns:a="http://schemas.openxmlformats.org/drawingml/2006/main" l="16794" t="28344" r="10153" b="8657"/>
        <a:stretch xmlns:a="http://schemas.openxmlformats.org/drawingml/2006/main">
          <a:fillRect/>
        </a:stretch>
      </cdr:blipFill>
      <cdr:spPr bwMode="auto">
        <a:xfrm xmlns:a="http://schemas.openxmlformats.org/drawingml/2006/main">
          <a:off x="0" y="0"/>
          <a:ext cx="5495110" cy="2664296"/>
        </a:xfrm>
        <a:prstGeom xmlns:a="http://schemas.openxmlformats.org/drawingml/2006/main" prst="rect">
          <a:avLst/>
        </a:prstGeom>
        <a:noFill xmlns:a="http://schemas.openxmlformats.org/drawingml/2006/main"/>
        <a:ln xmlns:a="http://schemas.openxmlformats.org/drawingml/2006/main" w="9525">
          <a:noFill/>
          <a:miter lim="800000"/>
          <a:headEnd/>
          <a:tailEnd/>
        </a:ln>
      </cdr:spPr>
    </cdr:pic>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and the project. This is a data engineering project focused on managing and analyzing healthcare prescriptions. Tools used are Python, MySQL, Pandas, Matplotlib, and Seaborn.</a:t>
            </a:r>
          </a:p>
        </p:txBody>
      </p:sp>
      <p:sp>
        <p:nvSpPr>
          <p:cNvPr id="4" name="Slide Number Placeholder 3"/>
          <p:cNvSpPr>
            <a:spLocks noGrp="1"/>
          </p:cNvSpPr>
          <p:nvPr>
            <p:ph type="sldNum" sz="quarter" idx="10"/>
          </p:nvPr>
        </p:nvSpPr>
        <p:spPr/>
        <p:txBody>
          <a:bodyPr/>
          <a:lstStyle/>
          <a:p>
            <a:fld id="{F7021451-1387-4CA6-816F-3879F97B5CBC}" type="slidenum">
              <a:rPr lang="en-US"/>
              <a:pPr/>
              <a:t>1</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real-world problem first. Hospitals use paper prescriptions — this causes errors, duplication, and no way to track trends. Our project solves this by building a Python-based tool that automates everything from loading data to showing insights.</a:t>
            </a:r>
          </a:p>
        </p:txBody>
      </p:sp>
      <p:sp>
        <p:nvSpPr>
          <p:cNvPr id="4" name="Slide Number Placeholder 3"/>
          <p:cNvSpPr>
            <a:spLocks noGrp="1"/>
          </p:cNvSpPr>
          <p:nvPr>
            <p:ph type="sldNum" sz="quarter" idx="10"/>
          </p:nvPr>
        </p:nvSpPr>
        <p:spPr/>
        <p:txBody>
          <a:bodyPr/>
          <a:lstStyle/>
          <a:p>
            <a:fld id="{F7021451-1387-4CA6-816F-3879F97B5CBC}" type="slidenum">
              <a:rPr lang="en-US"/>
              <a:pPr/>
              <a:t>2</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has three main parts: ETL Pipeline for data cleaning, SQL Analytics for insights, and a CLI Tool as the final deliverable. Explain each briefly.</a:t>
            </a:r>
          </a:p>
        </p:txBody>
      </p:sp>
      <p:sp>
        <p:nvSpPr>
          <p:cNvPr id="4" name="Slide Number Placeholder 3"/>
          <p:cNvSpPr>
            <a:spLocks noGrp="1"/>
          </p:cNvSpPr>
          <p:nvPr>
            <p:ph type="sldNum" sz="quarter" idx="10"/>
          </p:nvPr>
        </p:nvSpPr>
        <p:spPr/>
        <p:txBody>
          <a:bodyPr/>
          <a:lstStyle/>
          <a:p>
            <a:fld id="{F7021451-1387-4CA6-816F-3879F97B5CBC}" type="slidenum">
              <a:rPr lang="en-US"/>
              <a:pPr/>
              <a:t>3</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pipeline step by step. CSV files are loaded with Pandas, cleaned using 6 business rules, then pushed into MySQL using SQLAlchemy. SQL queries are run and results are shown in the CLI.</a:t>
            </a:r>
          </a:p>
        </p:txBody>
      </p:sp>
      <p:sp>
        <p:nvSpPr>
          <p:cNvPr id="4" name="Slide Number Placeholder 3"/>
          <p:cNvSpPr>
            <a:spLocks noGrp="1"/>
          </p:cNvSpPr>
          <p:nvPr>
            <p:ph type="sldNum" sz="quarter" idx="10"/>
          </p:nvPr>
        </p:nvSpPr>
        <p:spPr/>
        <p:txBody>
          <a:bodyPr/>
          <a:lstStyle/>
          <a:p>
            <a:fld id="{F7021451-1387-4CA6-816F-3879F97B5CBC}" type="slidenum">
              <a:rPr lang="en-US"/>
              <a:pPr/>
              <a:t>4</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about each tool briefly. Python is the main language, MySQL stores the data, Pandas handles data cleaning, Matplotlib and Seaborn create the charts, and Jupyter Notebook is used for the analysis workflow.</a:t>
            </a:r>
          </a:p>
        </p:txBody>
      </p:sp>
      <p:sp>
        <p:nvSpPr>
          <p:cNvPr id="4" name="Slide Number Placeholder 3"/>
          <p:cNvSpPr>
            <a:spLocks noGrp="1"/>
          </p:cNvSpPr>
          <p:nvPr>
            <p:ph type="sldNum" sz="quarter" idx="10"/>
          </p:nvPr>
        </p:nvSpPr>
        <p:spPr/>
        <p:txBody>
          <a:bodyPr/>
          <a:lstStyle/>
          <a:p>
            <a:fld id="{F7021451-1387-4CA6-816F-3879F97B5CBC}" type="slidenum">
              <a:rPr lang="en-US"/>
              <a:pPr/>
              <a:t>5</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all charts are built using Matplotlib and Seaborn from the SQL query results. The top chart shows the most prescribed medicines. The pie chart shows the gender split of patients. You have 10 charts total in your notebook.</a:t>
            </a:r>
          </a:p>
        </p:txBody>
      </p:sp>
      <p:sp>
        <p:nvSpPr>
          <p:cNvPr id="4" name="Slide Number Placeholder 3"/>
          <p:cNvSpPr>
            <a:spLocks noGrp="1"/>
          </p:cNvSpPr>
          <p:nvPr>
            <p:ph type="sldNum" sz="quarter" idx="10"/>
          </p:nvPr>
        </p:nvSpPr>
        <p:spPr/>
        <p:txBody>
          <a:bodyPr/>
          <a:lstStyle/>
          <a:p>
            <a:fld id="{F7021451-1387-4CA6-816F-3879F97B5CBC}" type="slidenum">
              <a:rPr lang="en-US"/>
              <a:pPr/>
              <a:t>6</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monthly trend chart. Explain the red dotted line is a 3-month moving average that smooths out spikes. The age group chart shows which age group has the most prescriptions. The full list of 10 insights is shown at the bottom.</a:t>
            </a:r>
          </a:p>
        </p:txBody>
      </p:sp>
      <p:sp>
        <p:nvSpPr>
          <p:cNvPr id="4" name="Slide Number Placeholder 3"/>
          <p:cNvSpPr>
            <a:spLocks noGrp="1"/>
          </p:cNvSpPr>
          <p:nvPr>
            <p:ph type="sldNum" sz="quarter" idx="10"/>
          </p:nvPr>
        </p:nvSpPr>
        <p:spPr/>
        <p:txBody>
          <a:bodyPr/>
          <a:lstStyle/>
          <a:p>
            <a:fld id="{F7021451-1387-4CA6-816F-3879F97B5CBC}" type="slidenum">
              <a:rPr lang="en-US"/>
              <a:pPr/>
              <a:t>7</a:t>
            </a:fld>
            <a:endParaRPr lang="en-US"/>
          </a:p>
        </p:txBody>
      </p:sp>
    </p:spTree>
    <p:extLst>
      <p:ext uri="{BB962C8B-B14F-4D97-AF65-F5344CB8AC3E}">
        <p14:creationId xmlns:p14="http://schemas.microsoft.com/office/powerpoint/2010/main" xmlns=""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540"/>
        </a:solidFill>
        <a:effectLst/>
      </p:bgPr>
    </p:bg>
    <p:spTree>
      <p:nvGrpSpPr>
        <p:cNvPr id="1" name=""/>
        <p:cNvGrpSpPr/>
        <p:nvPr/>
      </p:nvGrpSpPr>
      <p:grpSpPr>
        <a:xfrm>
          <a:off x="0" y="0"/>
          <a:ext cx="0" cy="0"/>
          <a:chOff x="0" y="0"/>
          <a:chExt cx="0" cy="0"/>
        </a:xfrm>
      </p:grpSpPr>
      <p:sp>
        <p:nvSpPr>
          <p:cNvPr id="2" name="Text 0"/>
          <p:cNvSpPr/>
          <p:nvPr/>
        </p:nvSpPr>
        <p:spPr>
          <a:xfrm>
            <a:off x="640080" y="1005840"/>
            <a:ext cx="7863840" cy="2011680"/>
          </a:xfrm>
          <a:prstGeom prst="rect">
            <a:avLst/>
          </a:prstGeom>
          <a:noFill/>
          <a:ln/>
        </p:spPr>
        <p:txBody>
          <a:bodyPr wrap="square" rtlCol="0" anchor="t"/>
          <a:lstStyle/>
          <a:p>
            <a:pPr marL="0" indent="0" algn="l">
              <a:buNone/>
            </a:pPr>
            <a:r>
              <a:rPr lang="en-US" sz="4000" b="1" dirty="0">
                <a:solidFill>
                  <a:srgbClr val="FFFFFF"/>
                </a:solidFill>
                <a:latin typeface="Calibri" pitchFamily="34" charset="0"/>
                <a:ea typeface="Calibri" pitchFamily="34" charset="-122"/>
                <a:cs typeface="Calibri" pitchFamily="34" charset="-120"/>
              </a:rPr>
              <a:t>Digital Prescription</a:t>
            </a:r>
            <a:endParaRPr lang="en-US" sz="4000" dirty="0"/>
          </a:p>
          <a:p>
            <a:pPr marL="0" indent="0" algn="l">
              <a:buNone/>
            </a:pPr>
            <a:r>
              <a:rPr lang="en-US" sz="4000" b="1" dirty="0">
                <a:solidFill>
                  <a:srgbClr val="FFFFFF"/>
                </a:solidFill>
                <a:latin typeface="Calibri" pitchFamily="34" charset="0"/>
                <a:ea typeface="Calibri" pitchFamily="34" charset="-122"/>
                <a:cs typeface="Calibri" pitchFamily="34" charset="-120"/>
              </a:rPr>
              <a:t>Record Analysis</a:t>
            </a:r>
            <a:endParaRPr lang="en-US" sz="4000" dirty="0"/>
          </a:p>
        </p:txBody>
      </p:sp>
      <p:sp>
        <p:nvSpPr>
          <p:cNvPr id="3" name="Shape 1"/>
          <p:cNvSpPr/>
          <p:nvPr/>
        </p:nvSpPr>
        <p:spPr>
          <a:xfrm>
            <a:off x="640080" y="3154680"/>
            <a:ext cx="5303520" cy="36576"/>
          </a:xfrm>
          <a:prstGeom prst="rect">
            <a:avLst/>
          </a:prstGeom>
          <a:solidFill>
            <a:srgbClr val="02C39A"/>
          </a:solidFill>
          <a:ln w="12700">
            <a:solidFill>
              <a:srgbClr val="02C39A"/>
            </a:solidFill>
            <a:prstDash val="solid"/>
          </a:ln>
        </p:spPr>
      </p:sp>
      <p:sp>
        <p:nvSpPr>
          <p:cNvPr id="4" name="Text 2"/>
          <p:cNvSpPr/>
          <p:nvPr/>
        </p:nvSpPr>
        <p:spPr>
          <a:xfrm>
            <a:off x="640080" y="3291840"/>
            <a:ext cx="7863840" cy="457200"/>
          </a:xfrm>
          <a:prstGeom prst="rect">
            <a:avLst/>
          </a:prstGeom>
          <a:noFill/>
          <a:ln/>
        </p:spPr>
        <p:txBody>
          <a:bodyPr wrap="square" rtlCol="0" anchor="ctr"/>
          <a:lstStyle/>
          <a:p>
            <a:pPr marL="0" indent="0" algn="l">
              <a:buNone/>
            </a:pPr>
            <a:endParaRPr lang="en-US" sz="1300" dirty="0"/>
          </a:p>
        </p:txBody>
      </p:sp>
      <p:sp>
        <p:nvSpPr>
          <p:cNvPr id="15" name="Text 13"/>
          <p:cNvSpPr/>
          <p:nvPr/>
        </p:nvSpPr>
        <p:spPr>
          <a:xfrm>
            <a:off x="640080" y="4503420"/>
            <a:ext cx="7863840" cy="320040"/>
          </a:xfrm>
          <a:prstGeom prst="rect">
            <a:avLst/>
          </a:prstGeom>
          <a:noFill/>
          <a:ln/>
        </p:spPr>
        <p:txBody>
          <a:bodyPr wrap="square" rtlCol="0" anchor="ctr"/>
          <a:lstStyle/>
          <a:p>
            <a:pPr marL="0" indent="0" algn="l">
              <a:buNone/>
            </a:pPr>
            <a:r>
              <a:rPr lang="en-US" sz="1600" dirty="0">
                <a:solidFill>
                  <a:srgbClr val="5A7E8A"/>
                </a:solidFill>
                <a:latin typeface="Calibri" pitchFamily="34" charset="0"/>
                <a:ea typeface="Calibri" pitchFamily="34" charset="-122"/>
                <a:cs typeface="Calibri" pitchFamily="34" charset="-120"/>
              </a:rPr>
              <a:t>Project P1  </a:t>
            </a:r>
            <a:r>
              <a:rPr lang="en-US" sz="1600" dirty="0" smtClean="0">
                <a:solidFill>
                  <a:srgbClr val="5A7E8A"/>
                </a:solidFill>
                <a:latin typeface="Calibri" pitchFamily="34" charset="0"/>
                <a:ea typeface="Calibri" pitchFamily="34" charset="-122"/>
                <a:cs typeface="Calibri" pitchFamily="34" charset="-120"/>
              </a:rPr>
              <a:t>|Presented By </a:t>
            </a:r>
            <a:br>
              <a:rPr lang="en-US" sz="1600" dirty="0" smtClean="0">
                <a:solidFill>
                  <a:srgbClr val="5A7E8A"/>
                </a:solidFill>
                <a:latin typeface="Calibri" pitchFamily="34" charset="0"/>
                <a:ea typeface="Calibri" pitchFamily="34" charset="-122"/>
                <a:cs typeface="Calibri" pitchFamily="34" charset="-120"/>
              </a:rPr>
            </a:br>
            <a:r>
              <a:rPr lang="en-US" sz="1600" dirty="0" err="1" smtClean="0">
                <a:solidFill>
                  <a:srgbClr val="5A7E8A"/>
                </a:solidFill>
                <a:latin typeface="Calibri" pitchFamily="34" charset="0"/>
                <a:ea typeface="Calibri" pitchFamily="34" charset="-122"/>
                <a:cs typeface="Calibri" pitchFamily="34" charset="-120"/>
              </a:rPr>
              <a:t>B.Bhavya</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rtlCol="0" anchor="ctr"/>
          <a:lstStyle/>
          <a:p>
            <a:pPr marL="0" indent="0">
              <a:buNone/>
            </a:pPr>
            <a:r>
              <a:rPr lang="en-US" sz="2800" b="1" dirty="0">
                <a:solidFill>
                  <a:srgbClr val="0A2540"/>
                </a:solidFill>
                <a:latin typeface="Calibri" pitchFamily="34" charset="0"/>
                <a:ea typeface="Calibri" pitchFamily="34" charset="-122"/>
                <a:cs typeface="Calibri" pitchFamily="34" charset="-120"/>
              </a:rPr>
              <a:t>Problem &amp; Objective</a:t>
            </a:r>
            <a:endParaRPr lang="en-US" sz="2800" dirty="0"/>
          </a:p>
        </p:txBody>
      </p:sp>
      <p:sp>
        <p:nvSpPr>
          <p:cNvPr id="3" name="Shape 1"/>
          <p:cNvSpPr/>
          <p:nvPr/>
        </p:nvSpPr>
        <p:spPr>
          <a:xfrm>
            <a:off x="365760" y="1005840"/>
            <a:ext cx="3931920" cy="3474720"/>
          </a:xfrm>
          <a:prstGeom prst="roundRect">
            <a:avLst>
              <a:gd name="adj" fmla="val 2632"/>
            </a:avLst>
          </a:prstGeom>
          <a:solidFill>
            <a:srgbClr val="FFF5F5"/>
          </a:solidFill>
          <a:ln w="12700">
            <a:solidFill>
              <a:srgbClr val="FFD5D5"/>
            </a:solidFill>
            <a:prstDash val="solid"/>
          </a:ln>
          <a:effectLst>
            <a:outerShdw blurRad="101600" dist="25400" dir="2700000" algn="bl" rotWithShape="0">
              <a:srgbClr val="000000">
                <a:alpha val="10000"/>
              </a:srgbClr>
            </a:outerShdw>
          </a:effectLst>
        </p:spPr>
      </p:sp>
      <p:sp>
        <p:nvSpPr>
          <p:cNvPr id="4" name="Text 2"/>
          <p:cNvSpPr/>
          <p:nvPr/>
        </p:nvSpPr>
        <p:spPr>
          <a:xfrm>
            <a:off x="548640" y="1143000"/>
            <a:ext cx="3566160" cy="411480"/>
          </a:xfrm>
          <a:prstGeom prst="rect">
            <a:avLst/>
          </a:prstGeom>
          <a:noFill/>
          <a:ln/>
        </p:spPr>
        <p:txBody>
          <a:bodyPr wrap="square" rtlCol="0" anchor="ctr"/>
          <a:lstStyle/>
          <a:p>
            <a:pPr marL="0" indent="0">
              <a:buNone/>
            </a:pPr>
            <a:r>
              <a:rPr lang="en-US" sz="1400" b="1" dirty="0">
                <a:solidFill>
                  <a:srgbClr val="C0392B"/>
                </a:solidFill>
                <a:latin typeface="Calibri" pitchFamily="34" charset="0"/>
                <a:ea typeface="Calibri" pitchFamily="34" charset="-122"/>
                <a:cs typeface="Calibri" pitchFamily="34" charset="-120"/>
              </a:rPr>
              <a:t>❌  The Problem</a:t>
            </a:r>
            <a:endParaRPr lang="en-US" sz="1400" dirty="0"/>
          </a:p>
        </p:txBody>
      </p:sp>
      <p:sp>
        <p:nvSpPr>
          <p:cNvPr id="5" name="Text 3"/>
          <p:cNvSpPr/>
          <p:nvPr/>
        </p:nvSpPr>
        <p:spPr>
          <a:xfrm>
            <a:off x="548640" y="1645920"/>
            <a:ext cx="3566160" cy="2560320"/>
          </a:xfrm>
          <a:prstGeom prst="rect">
            <a:avLst/>
          </a:prstGeom>
          <a:noFill/>
          <a:ln/>
        </p:spPr>
        <p:txBody>
          <a:bodyPr wrap="square" rtlCol="0" anchor="t"/>
          <a:lstStyle/>
          <a:p>
            <a:pPr marL="342900" indent="-342900">
              <a:buSzPct val="100000"/>
              <a:buChar char="•"/>
            </a:pPr>
            <a:r>
              <a:rPr lang="en-US" sz="1200" dirty="0">
                <a:solidFill>
                  <a:srgbClr val="444444"/>
                </a:solidFill>
                <a:latin typeface="Calibri" pitchFamily="34" charset="0"/>
                <a:ea typeface="Calibri" pitchFamily="34" charset="-122"/>
                <a:cs typeface="Calibri" pitchFamily="34" charset="-120"/>
              </a:rPr>
              <a:t>Paper-based prescriptions cause errors</a:t>
            </a:r>
            <a:endParaRPr lang="en-US" sz="1200" dirty="0"/>
          </a:p>
          <a:p>
            <a:pPr marL="342900" indent="-342900">
              <a:buSzPct val="100000"/>
              <a:buChar char="•"/>
            </a:pPr>
            <a:r>
              <a:rPr lang="en-US" sz="1200" dirty="0">
                <a:solidFill>
                  <a:srgbClr val="444444"/>
                </a:solidFill>
                <a:latin typeface="Calibri" pitchFamily="34" charset="0"/>
                <a:ea typeface="Calibri" pitchFamily="34" charset="-122"/>
                <a:cs typeface="Calibri" pitchFamily="34" charset="-120"/>
              </a:rPr>
              <a:t>No central tracking of prescriptions</a:t>
            </a:r>
            <a:endParaRPr lang="en-US" sz="1200" dirty="0"/>
          </a:p>
          <a:p>
            <a:pPr marL="342900" indent="-342900">
              <a:buSzPct val="100000"/>
              <a:buChar char="•"/>
            </a:pPr>
            <a:r>
              <a:rPr lang="en-US" sz="1200" dirty="0">
                <a:solidFill>
                  <a:srgbClr val="444444"/>
                </a:solidFill>
                <a:latin typeface="Calibri" pitchFamily="34" charset="0"/>
                <a:ea typeface="Calibri" pitchFamily="34" charset="-122"/>
                <a:cs typeface="Calibri" pitchFamily="34" charset="-120"/>
              </a:rPr>
              <a:t>Data scattered across departments</a:t>
            </a:r>
            <a:endParaRPr lang="en-US" sz="1200" dirty="0"/>
          </a:p>
          <a:p>
            <a:pPr marL="342900" indent="-342900">
              <a:buSzPct val="100000"/>
              <a:buChar char="•"/>
            </a:pPr>
            <a:r>
              <a:rPr lang="en-US" sz="1200" dirty="0">
                <a:solidFill>
                  <a:srgbClr val="444444"/>
                </a:solidFill>
                <a:latin typeface="Calibri" pitchFamily="34" charset="0"/>
                <a:ea typeface="Calibri" pitchFamily="34" charset="-122"/>
                <a:cs typeface="Calibri" pitchFamily="34" charset="-120"/>
              </a:rPr>
              <a:t>No trend analysis or quality monitoring</a:t>
            </a:r>
            <a:endParaRPr lang="en-US" sz="1200" dirty="0"/>
          </a:p>
          <a:p>
            <a:pPr marL="342900" indent="-342900">
              <a:buSzPct val="100000"/>
              <a:buChar char="•"/>
            </a:pPr>
            <a:r>
              <a:rPr lang="en-US" sz="1200" dirty="0">
                <a:solidFill>
                  <a:srgbClr val="444444"/>
                </a:solidFill>
                <a:latin typeface="Calibri" pitchFamily="34" charset="0"/>
                <a:ea typeface="Calibri" pitchFamily="34" charset="-122"/>
                <a:cs typeface="Calibri" pitchFamily="34" charset="-120"/>
              </a:rPr>
              <a:t>Drug inventory not monitored in real time</a:t>
            </a:r>
            <a:endParaRPr lang="en-US" sz="1200" dirty="0"/>
          </a:p>
        </p:txBody>
      </p:sp>
      <p:sp>
        <p:nvSpPr>
          <p:cNvPr id="6" name="Shape 4"/>
          <p:cNvSpPr/>
          <p:nvPr/>
        </p:nvSpPr>
        <p:spPr>
          <a:xfrm>
            <a:off x="4663440" y="1005840"/>
            <a:ext cx="3931920" cy="3474720"/>
          </a:xfrm>
          <a:prstGeom prst="roundRect">
            <a:avLst>
              <a:gd name="adj" fmla="val 2632"/>
            </a:avLst>
          </a:prstGeom>
          <a:solidFill>
            <a:srgbClr val="F0FDF4"/>
          </a:solidFill>
          <a:ln w="12700">
            <a:solidFill>
              <a:srgbClr val="BBF7D0"/>
            </a:solidFill>
            <a:prstDash val="solid"/>
          </a:ln>
          <a:effectLst>
            <a:outerShdw blurRad="101600" dist="25400" dir="2700000" algn="bl" rotWithShape="0">
              <a:srgbClr val="000000">
                <a:alpha val="10000"/>
              </a:srgbClr>
            </a:outerShdw>
          </a:effectLst>
        </p:spPr>
      </p:sp>
      <p:sp>
        <p:nvSpPr>
          <p:cNvPr id="7" name="Text 5"/>
          <p:cNvSpPr/>
          <p:nvPr/>
        </p:nvSpPr>
        <p:spPr>
          <a:xfrm>
            <a:off x="4846320" y="1143000"/>
            <a:ext cx="3566160" cy="411480"/>
          </a:xfrm>
          <a:prstGeom prst="rect">
            <a:avLst/>
          </a:prstGeom>
          <a:noFill/>
          <a:ln/>
        </p:spPr>
        <p:txBody>
          <a:bodyPr wrap="square" rtlCol="0" anchor="ctr"/>
          <a:lstStyle/>
          <a:p>
            <a:pPr marL="0" indent="0">
              <a:buNone/>
            </a:pPr>
            <a:r>
              <a:rPr lang="en-US" sz="1400" b="1" dirty="0">
                <a:solidFill>
                  <a:srgbClr val="16A34A"/>
                </a:solidFill>
                <a:latin typeface="Calibri" pitchFamily="34" charset="0"/>
                <a:ea typeface="Calibri" pitchFamily="34" charset="-122"/>
                <a:cs typeface="Calibri" pitchFamily="34" charset="-120"/>
              </a:rPr>
              <a:t>✅  Our Objective</a:t>
            </a:r>
            <a:endParaRPr lang="en-US" sz="1400" dirty="0"/>
          </a:p>
        </p:txBody>
      </p:sp>
      <p:sp>
        <p:nvSpPr>
          <p:cNvPr id="8" name="Text 6"/>
          <p:cNvSpPr/>
          <p:nvPr/>
        </p:nvSpPr>
        <p:spPr>
          <a:xfrm>
            <a:off x="4846320" y="1645920"/>
            <a:ext cx="3566160" cy="2560320"/>
          </a:xfrm>
          <a:prstGeom prst="rect">
            <a:avLst/>
          </a:prstGeom>
          <a:noFill/>
          <a:ln/>
        </p:spPr>
        <p:txBody>
          <a:bodyPr wrap="square" rtlCol="0" anchor="t"/>
          <a:lstStyle/>
          <a:p>
            <a:pPr marL="342900" indent="-342900">
              <a:buSzPct val="100000"/>
              <a:buChar char="•"/>
            </a:pPr>
            <a:r>
              <a:rPr lang="en-US" sz="1200" dirty="0">
                <a:solidFill>
                  <a:srgbClr val="444444"/>
                </a:solidFill>
                <a:latin typeface="Calibri" pitchFamily="34" charset="0"/>
                <a:ea typeface="Calibri" pitchFamily="34" charset="-122"/>
                <a:cs typeface="Calibri" pitchFamily="34" charset="-120"/>
              </a:rPr>
              <a:t>Digitize prescription management</a:t>
            </a:r>
            <a:endParaRPr lang="en-US" sz="1200" dirty="0"/>
          </a:p>
          <a:p>
            <a:pPr marL="342900" indent="-342900">
              <a:buSzPct val="100000"/>
              <a:buChar char="•"/>
            </a:pPr>
            <a:r>
              <a:rPr lang="en-US" sz="1200" dirty="0">
                <a:solidFill>
                  <a:srgbClr val="444444"/>
                </a:solidFill>
                <a:latin typeface="Calibri" pitchFamily="34" charset="0"/>
                <a:ea typeface="Calibri" pitchFamily="34" charset="-122"/>
                <a:cs typeface="Calibri" pitchFamily="34" charset="-120"/>
              </a:rPr>
              <a:t>Automate ingestion and cleaning of data</a:t>
            </a:r>
            <a:endParaRPr lang="en-US" sz="1200" dirty="0"/>
          </a:p>
          <a:p>
            <a:pPr marL="342900" indent="-342900">
              <a:buSzPct val="100000"/>
              <a:buChar char="•"/>
            </a:pPr>
            <a:r>
              <a:rPr lang="en-US" sz="1200" dirty="0">
                <a:solidFill>
                  <a:srgbClr val="444444"/>
                </a:solidFill>
                <a:latin typeface="Calibri" pitchFamily="34" charset="0"/>
                <a:ea typeface="Calibri" pitchFamily="34" charset="-122"/>
                <a:cs typeface="Calibri" pitchFamily="34" charset="-120"/>
              </a:rPr>
              <a:t>Store clean data in MySQL database</a:t>
            </a:r>
            <a:endParaRPr lang="en-US" sz="1200" dirty="0"/>
          </a:p>
          <a:p>
            <a:pPr marL="342900" indent="-342900">
              <a:buSzPct val="100000"/>
              <a:buChar char="•"/>
            </a:pPr>
            <a:r>
              <a:rPr lang="en-US" sz="1200" dirty="0">
                <a:solidFill>
                  <a:srgbClr val="444444"/>
                </a:solidFill>
                <a:latin typeface="Calibri" pitchFamily="34" charset="0"/>
                <a:ea typeface="Calibri" pitchFamily="34" charset="-122"/>
                <a:cs typeface="Calibri" pitchFamily="34" charset="-120"/>
              </a:rPr>
              <a:t>Analyze trends using SQL queries</a:t>
            </a:r>
            <a:endParaRPr lang="en-US" sz="1200" dirty="0"/>
          </a:p>
          <a:p>
            <a:pPr marL="342900" indent="-342900">
              <a:buSzPct val="100000"/>
              <a:buChar char="•"/>
            </a:pPr>
            <a:r>
              <a:rPr lang="en-US" sz="1200" dirty="0">
                <a:solidFill>
                  <a:srgbClr val="444444"/>
                </a:solidFill>
                <a:latin typeface="Calibri" pitchFamily="34" charset="0"/>
                <a:ea typeface="Calibri" pitchFamily="34" charset="-122"/>
                <a:cs typeface="Calibri" pitchFamily="34" charset="-120"/>
              </a:rPr>
              <a:t>Build a CLI tool for instant insights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rtlCol="0" anchor="ctr"/>
          <a:lstStyle/>
          <a:p>
            <a:pPr marL="0" indent="0">
              <a:buNone/>
            </a:pPr>
            <a:r>
              <a:rPr lang="en-US" sz="2800" b="1" dirty="0">
                <a:solidFill>
                  <a:srgbClr val="0A2540"/>
                </a:solidFill>
                <a:latin typeface="Calibri" pitchFamily="34" charset="0"/>
                <a:ea typeface="Calibri" pitchFamily="34" charset="-122"/>
                <a:cs typeface="Calibri" pitchFamily="34" charset="-120"/>
              </a:rPr>
              <a:t>Project Scope &amp; Outcome</a:t>
            </a:r>
            <a:endParaRPr lang="en-US" sz="2800" dirty="0"/>
          </a:p>
        </p:txBody>
      </p:sp>
      <p:sp>
        <p:nvSpPr>
          <p:cNvPr id="3" name="Shape 1"/>
          <p:cNvSpPr/>
          <p:nvPr/>
        </p:nvSpPr>
        <p:spPr>
          <a:xfrm>
            <a:off x="365760" y="960120"/>
            <a:ext cx="8412480" cy="822960"/>
          </a:xfrm>
          <a:prstGeom prst="roundRect">
            <a:avLst>
              <a:gd name="adj" fmla="val 11111"/>
            </a:avLst>
          </a:prstGeom>
          <a:solidFill>
            <a:srgbClr val="F0F9FB"/>
          </a:solidFill>
          <a:ln w="19050">
            <a:solidFill>
              <a:srgbClr val="028090"/>
            </a:solidFill>
            <a:prstDash val="solid"/>
          </a:ln>
        </p:spPr>
      </p:sp>
      <p:sp>
        <p:nvSpPr>
          <p:cNvPr id="4" name="Text 2"/>
          <p:cNvSpPr/>
          <p:nvPr/>
        </p:nvSpPr>
        <p:spPr>
          <a:xfrm>
            <a:off x="548640" y="1005840"/>
            <a:ext cx="8046720" cy="731520"/>
          </a:xfrm>
          <a:prstGeom prst="rect">
            <a:avLst/>
          </a:prstGeom>
          <a:noFill/>
          <a:ln/>
        </p:spPr>
        <p:txBody>
          <a:bodyPr wrap="square" rtlCol="0" anchor="ctr"/>
          <a:lstStyle/>
          <a:p>
            <a:pPr marL="0" indent="0">
              <a:buNone/>
            </a:pPr>
            <a:r>
              <a:rPr lang="en-US" sz="1150" i="1" dirty="0">
                <a:solidFill>
                  <a:srgbClr val="0A2540"/>
                </a:solidFill>
                <a:latin typeface="Calibri" pitchFamily="34" charset="0"/>
                <a:ea typeface="Calibri" pitchFamily="34" charset="-122"/>
                <a:cs typeface="Calibri" pitchFamily="34" charset="-120"/>
              </a:rPr>
              <a:t>Outcome:  A robust Python-based CLI tool that automates ingestion, cleaning and storage of healthcare data,</a:t>
            </a:r>
            <a:endParaRPr lang="en-US" sz="1150" dirty="0"/>
          </a:p>
          <a:p>
            <a:pPr marL="0" indent="0">
              <a:buNone/>
            </a:pPr>
            <a:r>
              <a:rPr lang="en-US" sz="1150" i="1" dirty="0">
                <a:solidFill>
                  <a:srgbClr val="0A2540"/>
                </a:solidFill>
                <a:latin typeface="Calibri" pitchFamily="34" charset="0"/>
                <a:ea typeface="Calibri" pitchFamily="34" charset="-122"/>
                <a:cs typeface="Calibri" pitchFamily="34" charset="-120"/>
              </a:rPr>
              <a:t>enabling users to run predefined analytical queries and get insights directly from the terminal.</a:t>
            </a:r>
            <a:endParaRPr lang="en-US" sz="1150" dirty="0"/>
          </a:p>
        </p:txBody>
      </p:sp>
      <p:sp>
        <p:nvSpPr>
          <p:cNvPr id="5" name="Shape 3"/>
          <p:cNvSpPr/>
          <p:nvPr/>
        </p:nvSpPr>
        <p:spPr>
          <a:xfrm>
            <a:off x="365760" y="1920240"/>
            <a:ext cx="2697480" cy="2743200"/>
          </a:xfrm>
          <a:prstGeom prst="roundRect">
            <a:avLst>
              <a:gd name="adj" fmla="val 3390"/>
            </a:avLst>
          </a:prstGeom>
          <a:solidFill>
            <a:srgbClr val="EFF6FF"/>
          </a:solidFill>
          <a:ln w="12700">
            <a:solidFill>
              <a:srgbClr val="BFDBFE"/>
            </a:solidFill>
            <a:prstDash val="solid"/>
          </a:ln>
          <a:effectLst>
            <a:outerShdw blurRad="76200" dist="25400" dir="2700000" algn="bl" rotWithShape="0">
              <a:srgbClr val="000000">
                <a:alpha val="9000"/>
              </a:srgbClr>
            </a:outerShdw>
          </a:effectLst>
        </p:spPr>
      </p:sp>
      <p:sp>
        <p:nvSpPr>
          <p:cNvPr id="6" name="Text 4"/>
          <p:cNvSpPr/>
          <p:nvPr/>
        </p:nvSpPr>
        <p:spPr>
          <a:xfrm>
            <a:off x="502920" y="2011680"/>
            <a:ext cx="2423160" cy="411480"/>
          </a:xfrm>
          <a:prstGeom prst="rect">
            <a:avLst/>
          </a:prstGeom>
          <a:noFill/>
          <a:ln/>
        </p:spPr>
        <p:txBody>
          <a:bodyPr wrap="square" rtlCol="0" anchor="ctr"/>
          <a:lstStyle/>
          <a:p>
            <a:pPr marL="0" indent="0">
              <a:buNone/>
            </a:pPr>
            <a:r>
              <a:rPr lang="en-US" sz="1400" b="1" dirty="0">
                <a:solidFill>
                  <a:srgbClr val="1D4ED8"/>
                </a:solidFill>
                <a:latin typeface="Calibri" pitchFamily="34" charset="0"/>
                <a:ea typeface="Calibri" pitchFamily="34" charset="-122"/>
                <a:cs typeface="Calibri" pitchFamily="34" charset="-120"/>
              </a:rPr>
              <a:t>ETL Pipeline</a:t>
            </a:r>
            <a:endParaRPr lang="en-US" sz="1400" dirty="0"/>
          </a:p>
        </p:txBody>
      </p:sp>
      <p:sp>
        <p:nvSpPr>
          <p:cNvPr id="7" name="Text 5"/>
          <p:cNvSpPr/>
          <p:nvPr/>
        </p:nvSpPr>
        <p:spPr>
          <a:xfrm>
            <a:off x="502920" y="2514600"/>
            <a:ext cx="2423160" cy="2011680"/>
          </a:xfrm>
          <a:prstGeom prst="rect">
            <a:avLst/>
          </a:prstGeom>
          <a:noFill/>
          <a:ln/>
        </p:spPr>
        <p:txBody>
          <a:bodyPr wrap="square" rtlCol="0" anchor="t"/>
          <a:lstStyle/>
          <a:p>
            <a:pPr marL="342900" indent="-342900">
              <a:buSzPct val="100000"/>
              <a:buChar char="•"/>
            </a:pPr>
            <a:r>
              <a:rPr lang="en-US" sz="1150" dirty="0">
                <a:solidFill>
                  <a:srgbClr val="444444"/>
                </a:solidFill>
                <a:latin typeface="Calibri" pitchFamily="34" charset="0"/>
                <a:ea typeface="Calibri" pitchFamily="34" charset="-122"/>
                <a:cs typeface="Calibri" pitchFamily="34" charset="-120"/>
              </a:rPr>
              <a:t>Load 10 CSV files</a:t>
            </a:r>
            <a:endParaRPr lang="en-US" sz="1150" dirty="0"/>
          </a:p>
          <a:p>
            <a:pPr marL="342900" indent="-342900">
              <a:buSzPct val="100000"/>
              <a:buChar char="•"/>
            </a:pPr>
            <a:r>
              <a:rPr lang="en-US" sz="1150" dirty="0">
                <a:solidFill>
                  <a:srgbClr val="444444"/>
                </a:solidFill>
                <a:latin typeface="Calibri" pitchFamily="34" charset="0"/>
                <a:ea typeface="Calibri" pitchFamily="34" charset="-122"/>
                <a:cs typeface="Calibri" pitchFamily="34" charset="-120"/>
              </a:rPr>
              <a:t>Apply 6 business rules</a:t>
            </a:r>
            <a:endParaRPr lang="en-US" sz="1150" dirty="0"/>
          </a:p>
          <a:p>
            <a:pPr marL="342900" indent="-342900">
              <a:buSzPct val="100000"/>
              <a:buChar char="•"/>
            </a:pPr>
            <a:r>
              <a:rPr lang="en-US" sz="1150" dirty="0">
                <a:solidFill>
                  <a:srgbClr val="444444"/>
                </a:solidFill>
                <a:latin typeface="Calibri" pitchFamily="34" charset="0"/>
                <a:ea typeface="Calibri" pitchFamily="34" charset="-122"/>
                <a:cs typeface="Calibri" pitchFamily="34" charset="-120"/>
              </a:rPr>
              <a:t>Clean &amp; validate data</a:t>
            </a:r>
            <a:endParaRPr lang="en-US" sz="1150" dirty="0"/>
          </a:p>
          <a:p>
            <a:pPr marL="342900" indent="-342900">
              <a:buSzPct val="100000"/>
              <a:buChar char="•"/>
            </a:pPr>
            <a:r>
              <a:rPr lang="en-US" sz="1150" dirty="0">
                <a:solidFill>
                  <a:srgbClr val="444444"/>
                </a:solidFill>
                <a:latin typeface="Calibri" pitchFamily="34" charset="0"/>
                <a:ea typeface="Calibri" pitchFamily="34" charset="-122"/>
                <a:cs typeface="Calibri" pitchFamily="34" charset="-120"/>
              </a:rPr>
              <a:t>Store in MySQL</a:t>
            </a:r>
            <a:endParaRPr lang="en-US" sz="1150" dirty="0"/>
          </a:p>
        </p:txBody>
      </p:sp>
      <p:sp>
        <p:nvSpPr>
          <p:cNvPr id="8" name="Shape 6"/>
          <p:cNvSpPr/>
          <p:nvPr/>
        </p:nvSpPr>
        <p:spPr>
          <a:xfrm>
            <a:off x="3246120" y="1920240"/>
            <a:ext cx="2697480" cy="2743200"/>
          </a:xfrm>
          <a:prstGeom prst="roundRect">
            <a:avLst>
              <a:gd name="adj" fmla="val 3390"/>
            </a:avLst>
          </a:prstGeom>
          <a:solidFill>
            <a:srgbClr val="F0FDF4"/>
          </a:solidFill>
          <a:ln w="12700">
            <a:solidFill>
              <a:srgbClr val="BBF7D0"/>
            </a:solidFill>
            <a:prstDash val="solid"/>
          </a:ln>
          <a:effectLst>
            <a:outerShdw blurRad="76200" dist="25400" dir="2700000" algn="bl" rotWithShape="0">
              <a:srgbClr val="000000">
                <a:alpha val="9000"/>
              </a:srgbClr>
            </a:outerShdw>
          </a:effectLst>
        </p:spPr>
      </p:sp>
      <p:sp>
        <p:nvSpPr>
          <p:cNvPr id="9" name="Text 7"/>
          <p:cNvSpPr/>
          <p:nvPr/>
        </p:nvSpPr>
        <p:spPr>
          <a:xfrm>
            <a:off x="3383280" y="2011680"/>
            <a:ext cx="2423160" cy="411480"/>
          </a:xfrm>
          <a:prstGeom prst="rect">
            <a:avLst/>
          </a:prstGeom>
          <a:noFill/>
          <a:ln/>
        </p:spPr>
        <p:txBody>
          <a:bodyPr wrap="square" rtlCol="0" anchor="ctr"/>
          <a:lstStyle/>
          <a:p>
            <a:pPr marL="0" indent="0">
              <a:buNone/>
            </a:pPr>
            <a:r>
              <a:rPr lang="en-US" sz="1400" b="1" dirty="0">
                <a:solidFill>
                  <a:srgbClr val="15803D"/>
                </a:solidFill>
                <a:latin typeface="Calibri" pitchFamily="34" charset="0"/>
                <a:ea typeface="Calibri" pitchFamily="34" charset="-122"/>
                <a:cs typeface="Calibri" pitchFamily="34" charset="-120"/>
              </a:rPr>
              <a:t>SQL Analytics</a:t>
            </a:r>
            <a:endParaRPr lang="en-US" sz="1400" dirty="0"/>
          </a:p>
        </p:txBody>
      </p:sp>
      <p:sp>
        <p:nvSpPr>
          <p:cNvPr id="10" name="Text 8"/>
          <p:cNvSpPr/>
          <p:nvPr/>
        </p:nvSpPr>
        <p:spPr>
          <a:xfrm>
            <a:off x="3383280" y="2514600"/>
            <a:ext cx="2423160" cy="2011680"/>
          </a:xfrm>
          <a:prstGeom prst="rect">
            <a:avLst/>
          </a:prstGeom>
          <a:noFill/>
          <a:ln/>
        </p:spPr>
        <p:txBody>
          <a:bodyPr wrap="square" rtlCol="0" anchor="t"/>
          <a:lstStyle/>
          <a:p>
            <a:pPr marL="342900" indent="-342900">
              <a:buSzPct val="100000"/>
              <a:buChar char="•"/>
            </a:pPr>
            <a:r>
              <a:rPr lang="en-US" sz="1150" dirty="0">
                <a:solidFill>
                  <a:srgbClr val="444444"/>
                </a:solidFill>
                <a:latin typeface="Calibri" pitchFamily="34" charset="0"/>
                <a:ea typeface="Calibri" pitchFamily="34" charset="-122"/>
                <a:cs typeface="Calibri" pitchFamily="34" charset="-120"/>
              </a:rPr>
              <a:t>10 predefined queries</a:t>
            </a:r>
            <a:endParaRPr lang="en-US" sz="1150" dirty="0"/>
          </a:p>
          <a:p>
            <a:pPr marL="342900" indent="-342900">
              <a:buSzPct val="100000"/>
              <a:buChar char="•"/>
            </a:pPr>
            <a:r>
              <a:rPr lang="en-US" sz="1150" dirty="0">
                <a:solidFill>
                  <a:srgbClr val="444444"/>
                </a:solidFill>
                <a:latin typeface="Calibri" pitchFamily="34" charset="0"/>
                <a:ea typeface="Calibri" pitchFamily="34" charset="-122"/>
                <a:cs typeface="Calibri" pitchFamily="34" charset="-120"/>
              </a:rPr>
              <a:t>Top medicines &amp; diseases</a:t>
            </a:r>
            <a:endParaRPr lang="en-US" sz="1150" dirty="0"/>
          </a:p>
          <a:p>
            <a:pPr marL="342900" indent="-342900">
              <a:buSzPct val="100000"/>
              <a:buChar char="•"/>
            </a:pPr>
            <a:r>
              <a:rPr lang="en-US" sz="1150" dirty="0">
                <a:solidFill>
                  <a:srgbClr val="444444"/>
                </a:solidFill>
                <a:latin typeface="Calibri" pitchFamily="34" charset="0"/>
                <a:ea typeface="Calibri" pitchFamily="34" charset="-122"/>
                <a:cs typeface="Calibri" pitchFamily="34" charset="-120"/>
              </a:rPr>
              <a:t>Doctor outlier detection</a:t>
            </a:r>
            <a:endParaRPr lang="en-US" sz="1150" dirty="0"/>
          </a:p>
          <a:p>
            <a:pPr marL="342900" indent="-342900">
              <a:buSzPct val="100000"/>
              <a:buChar char="•"/>
            </a:pPr>
            <a:r>
              <a:rPr lang="en-US" sz="1150" dirty="0">
                <a:solidFill>
                  <a:srgbClr val="444444"/>
                </a:solidFill>
                <a:latin typeface="Calibri" pitchFamily="34" charset="0"/>
                <a:ea typeface="Calibri" pitchFamily="34" charset="-122"/>
                <a:cs typeface="Calibri" pitchFamily="34" charset="-120"/>
              </a:rPr>
              <a:t>Inventory alerts</a:t>
            </a:r>
            <a:endParaRPr lang="en-US" sz="1150" dirty="0"/>
          </a:p>
        </p:txBody>
      </p:sp>
      <p:sp>
        <p:nvSpPr>
          <p:cNvPr id="11" name="Shape 9"/>
          <p:cNvSpPr/>
          <p:nvPr/>
        </p:nvSpPr>
        <p:spPr>
          <a:xfrm>
            <a:off x="6126480" y="1920240"/>
            <a:ext cx="2697480" cy="2743200"/>
          </a:xfrm>
          <a:prstGeom prst="roundRect">
            <a:avLst>
              <a:gd name="adj" fmla="val 3390"/>
            </a:avLst>
          </a:prstGeom>
          <a:solidFill>
            <a:srgbClr val="FFF7ED"/>
          </a:solidFill>
          <a:ln w="12700">
            <a:solidFill>
              <a:srgbClr val="FED7AA"/>
            </a:solidFill>
            <a:prstDash val="solid"/>
          </a:ln>
          <a:effectLst>
            <a:outerShdw blurRad="76200" dist="25400" dir="2700000" algn="bl" rotWithShape="0">
              <a:srgbClr val="000000">
                <a:alpha val="9000"/>
              </a:srgbClr>
            </a:outerShdw>
          </a:effectLst>
        </p:spPr>
      </p:sp>
      <p:sp>
        <p:nvSpPr>
          <p:cNvPr id="12" name="Text 10"/>
          <p:cNvSpPr/>
          <p:nvPr/>
        </p:nvSpPr>
        <p:spPr>
          <a:xfrm>
            <a:off x="6263640" y="2011680"/>
            <a:ext cx="2423160" cy="411480"/>
          </a:xfrm>
          <a:prstGeom prst="rect">
            <a:avLst/>
          </a:prstGeom>
          <a:noFill/>
          <a:ln/>
        </p:spPr>
        <p:txBody>
          <a:bodyPr wrap="square" rtlCol="0" anchor="ctr"/>
          <a:lstStyle/>
          <a:p>
            <a:pPr marL="0" indent="0">
              <a:buNone/>
            </a:pPr>
            <a:r>
              <a:rPr lang="en-US" sz="1400" b="1" dirty="0">
                <a:solidFill>
                  <a:srgbClr val="C2410C"/>
                </a:solidFill>
                <a:latin typeface="Calibri" pitchFamily="34" charset="0"/>
                <a:ea typeface="Calibri" pitchFamily="34" charset="-122"/>
                <a:cs typeface="Calibri" pitchFamily="34" charset="-120"/>
              </a:rPr>
              <a:t>CLI Tool</a:t>
            </a:r>
            <a:endParaRPr lang="en-US" sz="1400" dirty="0"/>
          </a:p>
        </p:txBody>
      </p:sp>
      <p:sp>
        <p:nvSpPr>
          <p:cNvPr id="13" name="Text 11"/>
          <p:cNvSpPr/>
          <p:nvPr/>
        </p:nvSpPr>
        <p:spPr>
          <a:xfrm>
            <a:off x="6263640" y="2514600"/>
            <a:ext cx="2423160" cy="2011680"/>
          </a:xfrm>
          <a:prstGeom prst="rect">
            <a:avLst/>
          </a:prstGeom>
          <a:noFill/>
          <a:ln/>
        </p:spPr>
        <p:txBody>
          <a:bodyPr wrap="square" rtlCol="0" anchor="t"/>
          <a:lstStyle/>
          <a:p>
            <a:pPr marL="342900" indent="-342900">
              <a:buSzPct val="100000"/>
              <a:buChar char="•"/>
            </a:pPr>
            <a:r>
              <a:rPr lang="en-US" sz="1150" dirty="0">
                <a:solidFill>
                  <a:srgbClr val="444444"/>
                </a:solidFill>
                <a:latin typeface="Calibri" pitchFamily="34" charset="0"/>
                <a:ea typeface="Calibri" pitchFamily="34" charset="-122"/>
                <a:cs typeface="Calibri" pitchFamily="34" charset="-120"/>
              </a:rPr>
              <a:t>Interactive menu</a:t>
            </a:r>
            <a:endParaRPr lang="en-US" sz="1150" dirty="0"/>
          </a:p>
          <a:p>
            <a:pPr marL="342900" indent="-342900">
              <a:buSzPct val="100000"/>
              <a:buChar char="•"/>
            </a:pPr>
            <a:r>
              <a:rPr lang="en-US" sz="1150" dirty="0">
                <a:solidFill>
                  <a:srgbClr val="444444"/>
                </a:solidFill>
                <a:latin typeface="Calibri" pitchFamily="34" charset="0"/>
                <a:ea typeface="Calibri" pitchFamily="34" charset="-122"/>
                <a:cs typeface="Calibri" pitchFamily="34" charset="-120"/>
              </a:rPr>
              <a:t>11 analytics options</a:t>
            </a:r>
            <a:endParaRPr lang="en-US" sz="1150" dirty="0"/>
          </a:p>
          <a:p>
            <a:pPr marL="342900" indent="-342900">
              <a:buSzPct val="100000"/>
              <a:buChar char="•"/>
            </a:pPr>
            <a:r>
              <a:rPr lang="en-US" sz="1150" dirty="0">
                <a:solidFill>
                  <a:srgbClr val="444444"/>
                </a:solidFill>
                <a:latin typeface="Calibri" pitchFamily="34" charset="0"/>
                <a:ea typeface="Calibri" pitchFamily="34" charset="-122"/>
                <a:cs typeface="Calibri" pitchFamily="34" charset="-120"/>
              </a:rPr>
              <a:t>Instant terminal output</a:t>
            </a:r>
            <a:endParaRPr lang="en-US" sz="1150" dirty="0"/>
          </a:p>
          <a:p>
            <a:pPr marL="342900" indent="-342900">
              <a:buSzPct val="100000"/>
              <a:buChar char="•"/>
            </a:pPr>
            <a:r>
              <a:rPr lang="en-US" sz="1150" dirty="0">
                <a:solidFill>
                  <a:srgbClr val="444444"/>
                </a:solidFill>
                <a:latin typeface="Calibri" pitchFamily="34" charset="0"/>
                <a:ea typeface="Calibri" pitchFamily="34" charset="-122"/>
                <a:cs typeface="Calibri" pitchFamily="34" charset="-120"/>
              </a:rPr>
              <a:t>No re-querying DB</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2540"/>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How the Pipeline Works</a:t>
            </a:r>
            <a:endParaRPr lang="en-US" sz="2600" dirty="0"/>
          </a:p>
        </p:txBody>
      </p:sp>
      <p:sp>
        <p:nvSpPr>
          <p:cNvPr id="3" name="Shape 1"/>
          <p:cNvSpPr/>
          <p:nvPr/>
        </p:nvSpPr>
        <p:spPr>
          <a:xfrm>
            <a:off x="320040" y="1097280"/>
            <a:ext cx="1463040" cy="1325880"/>
          </a:xfrm>
          <a:prstGeom prst="roundRect">
            <a:avLst>
              <a:gd name="adj" fmla="val 6897"/>
            </a:avLst>
          </a:prstGeom>
          <a:solidFill>
            <a:srgbClr val="1E3A5F"/>
          </a:solidFill>
          <a:ln w="6350">
            <a:solidFill>
              <a:srgbClr val="FFFFFF"/>
            </a:solidFill>
            <a:prstDash val="solid"/>
          </a:ln>
        </p:spPr>
      </p:sp>
      <p:sp>
        <p:nvSpPr>
          <p:cNvPr id="4" name="Text 2"/>
          <p:cNvSpPr/>
          <p:nvPr/>
        </p:nvSpPr>
        <p:spPr>
          <a:xfrm>
            <a:off x="320040" y="1097280"/>
            <a:ext cx="1463040" cy="13258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CSV Files</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(Raw Data)</a:t>
            </a:r>
            <a:endParaRPr lang="en-US" sz="1100" dirty="0"/>
          </a:p>
        </p:txBody>
      </p:sp>
      <p:sp>
        <p:nvSpPr>
          <p:cNvPr id="5" name="Shape 3"/>
          <p:cNvSpPr/>
          <p:nvPr/>
        </p:nvSpPr>
        <p:spPr>
          <a:xfrm>
            <a:off x="1783080" y="1755648"/>
            <a:ext cx="256032" cy="0"/>
          </a:xfrm>
          <a:prstGeom prst="line">
            <a:avLst/>
          </a:prstGeom>
          <a:noFill/>
          <a:ln w="25400">
            <a:solidFill>
              <a:srgbClr val="02C39A"/>
            </a:solidFill>
            <a:prstDash val="solid"/>
          </a:ln>
        </p:spPr>
      </p:sp>
      <p:sp>
        <p:nvSpPr>
          <p:cNvPr id="6" name="Shape 4"/>
          <p:cNvSpPr/>
          <p:nvPr/>
        </p:nvSpPr>
        <p:spPr>
          <a:xfrm>
            <a:off x="2039112" y="1097280"/>
            <a:ext cx="1463040" cy="1325880"/>
          </a:xfrm>
          <a:prstGeom prst="roundRect">
            <a:avLst>
              <a:gd name="adj" fmla="val 6897"/>
            </a:avLst>
          </a:prstGeom>
          <a:solidFill>
            <a:srgbClr val="0E7490"/>
          </a:solidFill>
          <a:ln w="6350">
            <a:solidFill>
              <a:srgbClr val="FFFFFF"/>
            </a:solidFill>
            <a:prstDash val="solid"/>
          </a:ln>
        </p:spPr>
      </p:sp>
      <p:sp>
        <p:nvSpPr>
          <p:cNvPr id="7" name="Text 5"/>
          <p:cNvSpPr/>
          <p:nvPr/>
        </p:nvSpPr>
        <p:spPr>
          <a:xfrm>
            <a:off x="2039112" y="1097280"/>
            <a:ext cx="1463040" cy="13258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ETL +</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Business Rules</a:t>
            </a:r>
            <a:endParaRPr lang="en-US" sz="1100" dirty="0"/>
          </a:p>
        </p:txBody>
      </p:sp>
      <p:sp>
        <p:nvSpPr>
          <p:cNvPr id="8" name="Shape 6"/>
          <p:cNvSpPr/>
          <p:nvPr/>
        </p:nvSpPr>
        <p:spPr>
          <a:xfrm>
            <a:off x="3502152" y="1755648"/>
            <a:ext cx="256032" cy="0"/>
          </a:xfrm>
          <a:prstGeom prst="line">
            <a:avLst/>
          </a:prstGeom>
          <a:noFill/>
          <a:ln w="25400">
            <a:solidFill>
              <a:srgbClr val="02C39A"/>
            </a:solidFill>
            <a:prstDash val="solid"/>
          </a:ln>
        </p:spPr>
      </p:sp>
      <p:sp>
        <p:nvSpPr>
          <p:cNvPr id="9" name="Shape 7"/>
          <p:cNvSpPr/>
          <p:nvPr/>
        </p:nvSpPr>
        <p:spPr>
          <a:xfrm>
            <a:off x="3758184" y="1097280"/>
            <a:ext cx="1463040" cy="1325880"/>
          </a:xfrm>
          <a:prstGeom prst="roundRect">
            <a:avLst>
              <a:gd name="adj" fmla="val 6897"/>
            </a:avLst>
          </a:prstGeom>
          <a:solidFill>
            <a:srgbClr val="047857"/>
          </a:solidFill>
          <a:ln w="6350">
            <a:solidFill>
              <a:srgbClr val="FFFFFF"/>
            </a:solidFill>
            <a:prstDash val="solid"/>
          </a:ln>
        </p:spPr>
      </p:sp>
      <p:sp>
        <p:nvSpPr>
          <p:cNvPr id="10" name="Text 8"/>
          <p:cNvSpPr/>
          <p:nvPr/>
        </p:nvSpPr>
        <p:spPr>
          <a:xfrm>
            <a:off x="3758184" y="1097280"/>
            <a:ext cx="1463040" cy="13258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MySQL</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Database</a:t>
            </a:r>
            <a:endParaRPr lang="en-US" sz="1100" dirty="0"/>
          </a:p>
        </p:txBody>
      </p:sp>
      <p:sp>
        <p:nvSpPr>
          <p:cNvPr id="11" name="Shape 9"/>
          <p:cNvSpPr/>
          <p:nvPr/>
        </p:nvSpPr>
        <p:spPr>
          <a:xfrm>
            <a:off x="5221224" y="1755648"/>
            <a:ext cx="256032" cy="0"/>
          </a:xfrm>
          <a:prstGeom prst="line">
            <a:avLst/>
          </a:prstGeom>
          <a:noFill/>
          <a:ln w="25400">
            <a:solidFill>
              <a:srgbClr val="02C39A"/>
            </a:solidFill>
            <a:prstDash val="solid"/>
          </a:ln>
        </p:spPr>
      </p:sp>
      <p:sp>
        <p:nvSpPr>
          <p:cNvPr id="12" name="Shape 10"/>
          <p:cNvSpPr/>
          <p:nvPr/>
        </p:nvSpPr>
        <p:spPr>
          <a:xfrm>
            <a:off x="5477256" y="1097280"/>
            <a:ext cx="1463040" cy="1325880"/>
          </a:xfrm>
          <a:prstGeom prst="roundRect">
            <a:avLst>
              <a:gd name="adj" fmla="val 6897"/>
            </a:avLst>
          </a:prstGeom>
          <a:solidFill>
            <a:srgbClr val="7C3AED"/>
          </a:solidFill>
          <a:ln w="6350">
            <a:solidFill>
              <a:srgbClr val="FFFFFF"/>
            </a:solidFill>
            <a:prstDash val="solid"/>
          </a:ln>
        </p:spPr>
      </p:sp>
      <p:sp>
        <p:nvSpPr>
          <p:cNvPr id="13" name="Text 11"/>
          <p:cNvSpPr/>
          <p:nvPr/>
        </p:nvSpPr>
        <p:spPr>
          <a:xfrm>
            <a:off x="5477256" y="1097280"/>
            <a:ext cx="1463040" cy="13258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SQL</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Queries</a:t>
            </a:r>
            <a:endParaRPr lang="en-US" sz="1100" dirty="0"/>
          </a:p>
        </p:txBody>
      </p:sp>
      <p:sp>
        <p:nvSpPr>
          <p:cNvPr id="14" name="Shape 12"/>
          <p:cNvSpPr/>
          <p:nvPr/>
        </p:nvSpPr>
        <p:spPr>
          <a:xfrm>
            <a:off x="6940296" y="1755648"/>
            <a:ext cx="256032" cy="0"/>
          </a:xfrm>
          <a:prstGeom prst="line">
            <a:avLst/>
          </a:prstGeom>
          <a:noFill/>
          <a:ln w="25400">
            <a:solidFill>
              <a:srgbClr val="02C39A"/>
            </a:solidFill>
            <a:prstDash val="solid"/>
          </a:ln>
        </p:spPr>
      </p:sp>
      <p:sp>
        <p:nvSpPr>
          <p:cNvPr id="15" name="Shape 13"/>
          <p:cNvSpPr/>
          <p:nvPr/>
        </p:nvSpPr>
        <p:spPr>
          <a:xfrm>
            <a:off x="7196328" y="1097280"/>
            <a:ext cx="1463040" cy="1325880"/>
          </a:xfrm>
          <a:prstGeom prst="roundRect">
            <a:avLst>
              <a:gd name="adj" fmla="val 6897"/>
            </a:avLst>
          </a:prstGeom>
          <a:solidFill>
            <a:srgbClr val="B45309"/>
          </a:solidFill>
          <a:ln w="6350">
            <a:solidFill>
              <a:srgbClr val="FFFFFF"/>
            </a:solidFill>
            <a:prstDash val="solid"/>
          </a:ln>
        </p:spPr>
      </p:sp>
      <p:sp>
        <p:nvSpPr>
          <p:cNvPr id="16" name="Text 14"/>
          <p:cNvSpPr/>
          <p:nvPr/>
        </p:nvSpPr>
        <p:spPr>
          <a:xfrm>
            <a:off x="7196328" y="1097280"/>
            <a:ext cx="1463040" cy="13258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CLI</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Insights</a:t>
            </a:r>
            <a:endParaRPr lang="en-US" sz="1100" dirty="0"/>
          </a:p>
        </p:txBody>
      </p:sp>
      <p:sp>
        <p:nvSpPr>
          <p:cNvPr id="17" name="Text 15"/>
          <p:cNvSpPr/>
          <p:nvPr/>
        </p:nvSpPr>
        <p:spPr>
          <a:xfrm>
            <a:off x="457200" y="2651760"/>
            <a:ext cx="8229600" cy="365760"/>
          </a:xfrm>
          <a:prstGeom prst="rect">
            <a:avLst/>
          </a:prstGeom>
          <a:noFill/>
          <a:ln/>
        </p:spPr>
        <p:txBody>
          <a:bodyPr wrap="square" rtlCol="0" anchor="ctr"/>
          <a:lstStyle/>
          <a:p>
            <a:pPr marL="0" indent="0">
              <a:buNone/>
            </a:pPr>
            <a:r>
              <a:rPr lang="en-US" sz="1300" b="1" dirty="0">
                <a:solidFill>
                  <a:srgbClr val="02C39A"/>
                </a:solidFill>
                <a:latin typeface="Calibri" pitchFamily="34" charset="0"/>
                <a:ea typeface="Calibri" pitchFamily="34" charset="-122"/>
                <a:cs typeface="Calibri" pitchFamily="34" charset="-120"/>
              </a:rPr>
              <a:t>6 Business Rules Applied:</a:t>
            </a:r>
            <a:endParaRPr lang="en-US" sz="1300" dirty="0"/>
          </a:p>
        </p:txBody>
      </p:sp>
      <p:sp>
        <p:nvSpPr>
          <p:cNvPr id="18" name="Text 16"/>
          <p:cNvSpPr/>
          <p:nvPr/>
        </p:nvSpPr>
        <p:spPr>
          <a:xfrm>
            <a:off x="457200" y="3063240"/>
            <a:ext cx="4114800" cy="329184"/>
          </a:xfrm>
          <a:prstGeom prst="rect">
            <a:avLst/>
          </a:prstGeom>
          <a:noFill/>
          <a:ln/>
        </p:spPr>
        <p:txBody>
          <a:bodyPr wrap="square" rtlCol="0" anchor="ctr"/>
          <a:lstStyle/>
          <a:p>
            <a:pPr marL="0" indent="0">
              <a:buNone/>
            </a:pPr>
            <a:r>
              <a:rPr lang="en-US" sz="1100" dirty="0">
                <a:solidFill>
                  <a:srgbClr val="CADCFC"/>
                </a:solidFill>
                <a:latin typeface="Calibri" pitchFamily="34" charset="0"/>
                <a:ea typeface="Calibri" pitchFamily="34" charset="-122"/>
                <a:cs typeface="Calibri" pitchFamily="34" charset="-120"/>
              </a:rPr>
              <a:t>1. Remove duplicates from all tables</a:t>
            </a:r>
            <a:endParaRPr lang="en-US" sz="1100" dirty="0"/>
          </a:p>
        </p:txBody>
      </p:sp>
      <p:sp>
        <p:nvSpPr>
          <p:cNvPr id="19" name="Text 17"/>
          <p:cNvSpPr/>
          <p:nvPr/>
        </p:nvSpPr>
        <p:spPr>
          <a:xfrm>
            <a:off x="457200" y="3410712"/>
            <a:ext cx="4114800" cy="329184"/>
          </a:xfrm>
          <a:prstGeom prst="rect">
            <a:avLst/>
          </a:prstGeom>
          <a:noFill/>
          <a:ln/>
        </p:spPr>
        <p:txBody>
          <a:bodyPr wrap="square" rtlCol="0" anchor="ctr"/>
          <a:lstStyle/>
          <a:p>
            <a:pPr marL="0" indent="0">
              <a:buNone/>
            </a:pPr>
            <a:r>
              <a:rPr lang="en-US" sz="1100" dirty="0">
                <a:solidFill>
                  <a:srgbClr val="CADCFC"/>
                </a:solidFill>
                <a:latin typeface="Calibri" pitchFamily="34" charset="0"/>
                <a:ea typeface="Calibri" pitchFamily="34" charset="-122"/>
                <a:cs typeface="Calibri" pitchFamily="34" charset="-120"/>
              </a:rPr>
              <a:t>2. Age must be between 0 and 100</a:t>
            </a:r>
            <a:endParaRPr lang="en-US" sz="1100" dirty="0"/>
          </a:p>
        </p:txBody>
      </p:sp>
      <p:sp>
        <p:nvSpPr>
          <p:cNvPr id="20" name="Text 18"/>
          <p:cNvSpPr/>
          <p:nvPr/>
        </p:nvSpPr>
        <p:spPr>
          <a:xfrm>
            <a:off x="457200" y="3758184"/>
            <a:ext cx="4114800" cy="329184"/>
          </a:xfrm>
          <a:prstGeom prst="rect">
            <a:avLst/>
          </a:prstGeom>
          <a:noFill/>
          <a:ln/>
        </p:spPr>
        <p:txBody>
          <a:bodyPr wrap="square" rtlCol="0" anchor="ctr"/>
          <a:lstStyle/>
          <a:p>
            <a:pPr marL="0" indent="0">
              <a:buNone/>
            </a:pPr>
            <a:r>
              <a:rPr lang="en-US" sz="1100" dirty="0">
                <a:solidFill>
                  <a:srgbClr val="CADCFC"/>
                </a:solidFill>
                <a:latin typeface="Calibri" pitchFamily="34" charset="0"/>
                <a:ea typeface="Calibri" pitchFamily="34" charset="-122"/>
                <a:cs typeface="Calibri" pitchFamily="34" charset="-120"/>
              </a:rPr>
              <a:t>3. Unknown gender → filled as 'U'</a:t>
            </a:r>
            <a:endParaRPr lang="en-US" sz="1100" dirty="0"/>
          </a:p>
        </p:txBody>
      </p:sp>
      <p:sp>
        <p:nvSpPr>
          <p:cNvPr id="21" name="Text 19"/>
          <p:cNvSpPr/>
          <p:nvPr/>
        </p:nvSpPr>
        <p:spPr>
          <a:xfrm>
            <a:off x="4663440" y="3063240"/>
            <a:ext cx="4114800" cy="329184"/>
          </a:xfrm>
          <a:prstGeom prst="rect">
            <a:avLst/>
          </a:prstGeom>
          <a:noFill/>
          <a:ln/>
        </p:spPr>
        <p:txBody>
          <a:bodyPr wrap="square" rtlCol="0" anchor="ctr"/>
          <a:lstStyle/>
          <a:p>
            <a:pPr marL="0" indent="0">
              <a:buNone/>
            </a:pPr>
            <a:r>
              <a:rPr lang="en-US" sz="1100" dirty="0">
                <a:solidFill>
                  <a:srgbClr val="CADCFC"/>
                </a:solidFill>
                <a:latin typeface="Calibri" pitchFamily="34" charset="0"/>
                <a:ea typeface="Calibri" pitchFamily="34" charset="-122"/>
                <a:cs typeface="Calibri" pitchFamily="34" charset="-120"/>
              </a:rPr>
              <a:t>4. Missing dosage/frequency → 'Not Provided'</a:t>
            </a:r>
            <a:endParaRPr lang="en-US" sz="1100" dirty="0"/>
          </a:p>
        </p:txBody>
      </p:sp>
      <p:sp>
        <p:nvSpPr>
          <p:cNvPr id="22" name="Text 20"/>
          <p:cNvSpPr/>
          <p:nvPr/>
        </p:nvSpPr>
        <p:spPr>
          <a:xfrm>
            <a:off x="4663440" y="3410712"/>
            <a:ext cx="4114800" cy="329184"/>
          </a:xfrm>
          <a:prstGeom prst="rect">
            <a:avLst/>
          </a:prstGeom>
          <a:noFill/>
          <a:ln/>
        </p:spPr>
        <p:txBody>
          <a:bodyPr wrap="square" rtlCol="0" anchor="ctr"/>
          <a:lstStyle/>
          <a:p>
            <a:pPr marL="0" indent="0">
              <a:buNone/>
            </a:pPr>
            <a:r>
              <a:rPr lang="en-US" sz="1100" dirty="0">
                <a:solidFill>
                  <a:srgbClr val="CADCFC"/>
                </a:solidFill>
                <a:latin typeface="Calibri" pitchFamily="34" charset="0"/>
                <a:ea typeface="Calibri" pitchFamily="34" charset="-122"/>
                <a:cs typeface="Calibri" pitchFamily="34" charset="-120"/>
              </a:rPr>
              <a:t>5. Prescriptions with invalid FK removed</a:t>
            </a:r>
            <a:endParaRPr lang="en-US" sz="1100" dirty="0"/>
          </a:p>
        </p:txBody>
      </p:sp>
      <p:sp>
        <p:nvSpPr>
          <p:cNvPr id="23" name="Text 21"/>
          <p:cNvSpPr/>
          <p:nvPr/>
        </p:nvSpPr>
        <p:spPr>
          <a:xfrm>
            <a:off x="4663440" y="3758184"/>
            <a:ext cx="4114800" cy="329184"/>
          </a:xfrm>
          <a:prstGeom prst="rect">
            <a:avLst/>
          </a:prstGeom>
          <a:noFill/>
          <a:ln/>
        </p:spPr>
        <p:txBody>
          <a:bodyPr wrap="square" rtlCol="0" anchor="ctr"/>
          <a:lstStyle/>
          <a:p>
            <a:pPr marL="0" indent="0">
              <a:buNone/>
            </a:pP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rtlCol="0" anchor="ctr"/>
          <a:lstStyle/>
          <a:p>
            <a:pPr marL="0" indent="0">
              <a:buNone/>
            </a:pPr>
            <a:r>
              <a:rPr lang="en-US" sz="2800" b="1" dirty="0">
                <a:solidFill>
                  <a:srgbClr val="0A2540"/>
                </a:solidFill>
                <a:latin typeface="Calibri" pitchFamily="34" charset="0"/>
                <a:ea typeface="Calibri" pitchFamily="34" charset="-122"/>
                <a:cs typeface="Calibri" pitchFamily="34" charset="-120"/>
              </a:rPr>
              <a:t>Tools &amp; Technologies</a:t>
            </a:r>
            <a:endParaRPr lang="en-US" sz="2800" dirty="0"/>
          </a:p>
        </p:txBody>
      </p:sp>
      <p:sp>
        <p:nvSpPr>
          <p:cNvPr id="3" name="Shape 1"/>
          <p:cNvSpPr/>
          <p:nvPr/>
        </p:nvSpPr>
        <p:spPr>
          <a:xfrm>
            <a:off x="365760" y="1005840"/>
            <a:ext cx="2697480" cy="1828800"/>
          </a:xfrm>
          <a:prstGeom prst="roundRect">
            <a:avLst>
              <a:gd name="adj" fmla="val 5000"/>
            </a:avLst>
          </a:prstGeom>
          <a:solidFill>
            <a:srgbClr val="EFF6FF"/>
          </a:solidFill>
          <a:ln w="12700">
            <a:solidFill>
              <a:srgbClr val="BFDBFE"/>
            </a:solidFill>
            <a:prstDash val="solid"/>
          </a:ln>
          <a:effectLst>
            <a:outerShdw blurRad="76200" dist="25400" dir="2700000" algn="bl" rotWithShape="0">
              <a:srgbClr val="000000">
                <a:alpha val="9000"/>
              </a:srgbClr>
            </a:outerShdw>
          </a:effectLst>
        </p:spPr>
      </p:sp>
      <p:sp>
        <p:nvSpPr>
          <p:cNvPr id="4" name="Text 2"/>
          <p:cNvSpPr/>
          <p:nvPr/>
        </p:nvSpPr>
        <p:spPr>
          <a:xfrm>
            <a:off x="502920" y="1097280"/>
            <a:ext cx="2423160" cy="411480"/>
          </a:xfrm>
          <a:prstGeom prst="rect">
            <a:avLst/>
          </a:prstGeom>
          <a:noFill/>
          <a:ln/>
        </p:spPr>
        <p:txBody>
          <a:bodyPr wrap="square" rtlCol="0" anchor="ctr"/>
          <a:lstStyle/>
          <a:p>
            <a:pPr marL="0" indent="0">
              <a:buNone/>
            </a:pPr>
            <a:r>
              <a:rPr lang="en-US" sz="1400" b="1" dirty="0">
                <a:solidFill>
                  <a:srgbClr val="1D4ED8"/>
                </a:solidFill>
                <a:latin typeface="Calibri" pitchFamily="34" charset="0"/>
                <a:ea typeface="Calibri" pitchFamily="34" charset="-122"/>
                <a:cs typeface="Calibri" pitchFamily="34" charset="-120"/>
              </a:rPr>
              <a:t>Python</a:t>
            </a:r>
            <a:endParaRPr lang="en-US" sz="1400" dirty="0"/>
          </a:p>
        </p:txBody>
      </p:sp>
      <p:sp>
        <p:nvSpPr>
          <p:cNvPr id="5" name="Text 3"/>
          <p:cNvSpPr/>
          <p:nvPr/>
        </p:nvSpPr>
        <p:spPr>
          <a:xfrm>
            <a:off x="502920" y="1554480"/>
            <a:ext cx="2423160" cy="914400"/>
          </a:xfrm>
          <a:prstGeom prst="rect">
            <a:avLst/>
          </a:prstGeom>
          <a:noFill/>
          <a:ln/>
        </p:spPr>
        <p:txBody>
          <a:bodyPr wrap="square" rtlCol="0" anchor="t"/>
          <a:lstStyle/>
          <a:p>
            <a:pPr marL="0" indent="0">
              <a:buNone/>
            </a:pPr>
            <a:r>
              <a:rPr lang="en-US" sz="1050" dirty="0">
                <a:solidFill>
                  <a:srgbClr val="444444"/>
                </a:solidFill>
                <a:latin typeface="Calibri" pitchFamily="34" charset="0"/>
                <a:ea typeface="Calibri" pitchFamily="34" charset="-122"/>
                <a:cs typeface="Calibri" pitchFamily="34" charset="-120"/>
              </a:rPr>
              <a:t>Core programming language. Used for ETL, data cleaning, and running the CLI tool.</a:t>
            </a:r>
            <a:endParaRPr lang="en-US" sz="1050" dirty="0"/>
          </a:p>
        </p:txBody>
      </p:sp>
      <p:sp>
        <p:nvSpPr>
          <p:cNvPr id="6" name="Text 4"/>
          <p:cNvSpPr/>
          <p:nvPr/>
        </p:nvSpPr>
        <p:spPr>
          <a:xfrm>
            <a:off x="502920" y="2514600"/>
            <a:ext cx="2423160" cy="256032"/>
          </a:xfrm>
          <a:prstGeom prst="rect">
            <a:avLst/>
          </a:prstGeom>
          <a:noFill/>
          <a:ln/>
        </p:spPr>
        <p:txBody>
          <a:bodyPr wrap="square" rtlCol="0" anchor="ctr"/>
          <a:lstStyle/>
          <a:p>
            <a:pPr marL="0" indent="0">
              <a:buNone/>
            </a:pPr>
            <a:endParaRPr lang="en-US" sz="950" dirty="0"/>
          </a:p>
        </p:txBody>
      </p:sp>
      <p:sp>
        <p:nvSpPr>
          <p:cNvPr id="7" name="Shape 5"/>
          <p:cNvSpPr/>
          <p:nvPr/>
        </p:nvSpPr>
        <p:spPr>
          <a:xfrm>
            <a:off x="3246120" y="1005840"/>
            <a:ext cx="2697480" cy="1828800"/>
          </a:xfrm>
          <a:prstGeom prst="roundRect">
            <a:avLst>
              <a:gd name="adj" fmla="val 5000"/>
            </a:avLst>
          </a:prstGeom>
          <a:solidFill>
            <a:srgbClr val="F0FDF4"/>
          </a:solidFill>
          <a:ln w="12700">
            <a:solidFill>
              <a:srgbClr val="BBF7D0"/>
            </a:solidFill>
            <a:prstDash val="solid"/>
          </a:ln>
          <a:effectLst>
            <a:outerShdw blurRad="76200" dist="25400" dir="2700000" algn="bl" rotWithShape="0">
              <a:srgbClr val="000000">
                <a:alpha val="9000"/>
              </a:srgbClr>
            </a:outerShdw>
          </a:effectLst>
        </p:spPr>
      </p:sp>
      <p:sp>
        <p:nvSpPr>
          <p:cNvPr id="8" name="Text 6"/>
          <p:cNvSpPr/>
          <p:nvPr/>
        </p:nvSpPr>
        <p:spPr>
          <a:xfrm>
            <a:off x="3383280" y="1097280"/>
            <a:ext cx="2423160" cy="411480"/>
          </a:xfrm>
          <a:prstGeom prst="rect">
            <a:avLst/>
          </a:prstGeom>
          <a:noFill/>
          <a:ln/>
        </p:spPr>
        <p:txBody>
          <a:bodyPr wrap="square" rtlCol="0" anchor="ctr"/>
          <a:lstStyle/>
          <a:p>
            <a:pPr marL="0" indent="0">
              <a:buNone/>
            </a:pPr>
            <a:r>
              <a:rPr lang="en-US" sz="1400" b="1" dirty="0">
                <a:solidFill>
                  <a:srgbClr val="15803D"/>
                </a:solidFill>
                <a:latin typeface="Calibri" pitchFamily="34" charset="0"/>
                <a:ea typeface="Calibri" pitchFamily="34" charset="-122"/>
                <a:cs typeface="Calibri" pitchFamily="34" charset="-120"/>
              </a:rPr>
              <a:t>MySQL</a:t>
            </a:r>
            <a:endParaRPr lang="en-US" sz="1400" dirty="0"/>
          </a:p>
        </p:txBody>
      </p:sp>
      <p:sp>
        <p:nvSpPr>
          <p:cNvPr id="9" name="Text 7"/>
          <p:cNvSpPr/>
          <p:nvPr/>
        </p:nvSpPr>
        <p:spPr>
          <a:xfrm>
            <a:off x="3383280" y="1554480"/>
            <a:ext cx="2423160" cy="914400"/>
          </a:xfrm>
          <a:prstGeom prst="rect">
            <a:avLst/>
          </a:prstGeom>
          <a:noFill/>
          <a:ln/>
        </p:spPr>
        <p:txBody>
          <a:bodyPr wrap="square" rtlCol="0" anchor="t"/>
          <a:lstStyle/>
          <a:p>
            <a:pPr marL="0" indent="0">
              <a:buNone/>
            </a:pPr>
            <a:r>
              <a:rPr lang="en-US" sz="1050" dirty="0">
                <a:solidFill>
                  <a:srgbClr val="444444"/>
                </a:solidFill>
                <a:latin typeface="Calibri" pitchFamily="34" charset="0"/>
                <a:ea typeface="Calibri" pitchFamily="34" charset="-122"/>
                <a:cs typeface="Calibri" pitchFamily="34" charset="-120"/>
              </a:rPr>
              <a:t>Database to store all cleaned tables. SQLAlchemy used to push DataFrames from Python.</a:t>
            </a:r>
            <a:endParaRPr lang="en-US" sz="1050" dirty="0"/>
          </a:p>
        </p:txBody>
      </p:sp>
      <p:sp>
        <p:nvSpPr>
          <p:cNvPr id="10" name="Text 8"/>
          <p:cNvSpPr/>
          <p:nvPr/>
        </p:nvSpPr>
        <p:spPr>
          <a:xfrm>
            <a:off x="3383280" y="2514600"/>
            <a:ext cx="2423160" cy="256032"/>
          </a:xfrm>
          <a:prstGeom prst="rect">
            <a:avLst/>
          </a:prstGeom>
          <a:noFill/>
          <a:ln/>
        </p:spPr>
        <p:txBody>
          <a:bodyPr wrap="square" rtlCol="0" anchor="ctr"/>
          <a:lstStyle/>
          <a:p>
            <a:pPr marL="0" indent="0">
              <a:buNone/>
            </a:pPr>
            <a:endParaRPr lang="en-US" sz="950" dirty="0"/>
          </a:p>
        </p:txBody>
      </p:sp>
      <p:sp>
        <p:nvSpPr>
          <p:cNvPr id="11" name="Shape 9"/>
          <p:cNvSpPr/>
          <p:nvPr/>
        </p:nvSpPr>
        <p:spPr>
          <a:xfrm>
            <a:off x="6126480" y="1005840"/>
            <a:ext cx="2697480" cy="1828800"/>
          </a:xfrm>
          <a:prstGeom prst="roundRect">
            <a:avLst>
              <a:gd name="adj" fmla="val 5000"/>
            </a:avLst>
          </a:prstGeom>
          <a:solidFill>
            <a:srgbClr val="FFF7ED"/>
          </a:solidFill>
          <a:ln w="12700">
            <a:solidFill>
              <a:srgbClr val="FED7AA"/>
            </a:solidFill>
            <a:prstDash val="solid"/>
          </a:ln>
          <a:effectLst>
            <a:outerShdw blurRad="76200" dist="25400" dir="2700000" algn="bl" rotWithShape="0">
              <a:srgbClr val="000000">
                <a:alpha val="9000"/>
              </a:srgbClr>
            </a:outerShdw>
          </a:effectLst>
        </p:spPr>
      </p:sp>
      <p:sp>
        <p:nvSpPr>
          <p:cNvPr id="12" name="Text 10"/>
          <p:cNvSpPr/>
          <p:nvPr/>
        </p:nvSpPr>
        <p:spPr>
          <a:xfrm>
            <a:off x="6263640" y="1097280"/>
            <a:ext cx="2423160" cy="411480"/>
          </a:xfrm>
          <a:prstGeom prst="rect">
            <a:avLst/>
          </a:prstGeom>
          <a:noFill/>
          <a:ln/>
        </p:spPr>
        <p:txBody>
          <a:bodyPr wrap="square" rtlCol="0" anchor="ctr"/>
          <a:lstStyle/>
          <a:p>
            <a:pPr marL="0" indent="0">
              <a:buNone/>
            </a:pPr>
            <a:r>
              <a:rPr lang="en-US" sz="1400" b="1" dirty="0">
                <a:solidFill>
                  <a:srgbClr val="C2410C"/>
                </a:solidFill>
                <a:latin typeface="Calibri" pitchFamily="34" charset="0"/>
                <a:ea typeface="Calibri" pitchFamily="34" charset="-122"/>
                <a:cs typeface="Calibri" pitchFamily="34" charset="-120"/>
              </a:rPr>
              <a:t>Pandas</a:t>
            </a:r>
            <a:endParaRPr lang="en-US" sz="1400" dirty="0"/>
          </a:p>
        </p:txBody>
      </p:sp>
      <p:sp>
        <p:nvSpPr>
          <p:cNvPr id="13" name="Text 11"/>
          <p:cNvSpPr/>
          <p:nvPr/>
        </p:nvSpPr>
        <p:spPr>
          <a:xfrm>
            <a:off x="6263640" y="1554480"/>
            <a:ext cx="2423160" cy="914400"/>
          </a:xfrm>
          <a:prstGeom prst="rect">
            <a:avLst/>
          </a:prstGeom>
          <a:noFill/>
          <a:ln/>
        </p:spPr>
        <p:txBody>
          <a:bodyPr wrap="square" rtlCol="0" anchor="t"/>
          <a:lstStyle/>
          <a:p>
            <a:pPr marL="0" indent="0">
              <a:buNone/>
            </a:pPr>
            <a:r>
              <a:rPr lang="en-US" sz="1050" dirty="0">
                <a:solidFill>
                  <a:srgbClr val="444444"/>
                </a:solidFill>
                <a:latin typeface="Calibri" pitchFamily="34" charset="0"/>
                <a:ea typeface="Calibri" pitchFamily="34" charset="-122"/>
                <a:cs typeface="Calibri" pitchFamily="34" charset="-120"/>
              </a:rPr>
              <a:t>Data manipulation library. Used for loading CSVs, cleaning data, and applying business rules.</a:t>
            </a:r>
            <a:endParaRPr lang="en-US" sz="1050" dirty="0"/>
          </a:p>
        </p:txBody>
      </p:sp>
      <p:sp>
        <p:nvSpPr>
          <p:cNvPr id="14" name="Text 12"/>
          <p:cNvSpPr/>
          <p:nvPr/>
        </p:nvSpPr>
        <p:spPr>
          <a:xfrm>
            <a:off x="6263640" y="2514600"/>
            <a:ext cx="2423160" cy="256032"/>
          </a:xfrm>
          <a:prstGeom prst="rect">
            <a:avLst/>
          </a:prstGeom>
          <a:noFill/>
          <a:ln/>
        </p:spPr>
        <p:txBody>
          <a:bodyPr wrap="square" rtlCol="0" anchor="ctr"/>
          <a:lstStyle/>
          <a:p>
            <a:pPr marL="0" indent="0">
              <a:buNone/>
            </a:pPr>
            <a:endParaRPr lang="en-US" sz="950" dirty="0"/>
          </a:p>
        </p:txBody>
      </p:sp>
      <p:sp>
        <p:nvSpPr>
          <p:cNvPr id="15" name="Shape 13"/>
          <p:cNvSpPr/>
          <p:nvPr/>
        </p:nvSpPr>
        <p:spPr>
          <a:xfrm>
            <a:off x="365760" y="3017520"/>
            <a:ext cx="2697480" cy="1828800"/>
          </a:xfrm>
          <a:prstGeom prst="roundRect">
            <a:avLst>
              <a:gd name="adj" fmla="val 5000"/>
            </a:avLst>
          </a:prstGeom>
          <a:solidFill>
            <a:srgbClr val="FDF4FF"/>
          </a:solidFill>
          <a:ln w="12700">
            <a:solidFill>
              <a:srgbClr val="E9D5FF"/>
            </a:solidFill>
            <a:prstDash val="solid"/>
          </a:ln>
          <a:effectLst>
            <a:outerShdw blurRad="76200" dist="25400" dir="2700000" algn="bl" rotWithShape="0">
              <a:srgbClr val="000000">
                <a:alpha val="9000"/>
              </a:srgbClr>
            </a:outerShdw>
          </a:effectLst>
        </p:spPr>
      </p:sp>
      <p:sp>
        <p:nvSpPr>
          <p:cNvPr id="16" name="Text 14"/>
          <p:cNvSpPr/>
          <p:nvPr/>
        </p:nvSpPr>
        <p:spPr>
          <a:xfrm>
            <a:off x="502920" y="3108960"/>
            <a:ext cx="2423160" cy="411480"/>
          </a:xfrm>
          <a:prstGeom prst="rect">
            <a:avLst/>
          </a:prstGeom>
          <a:noFill/>
          <a:ln/>
        </p:spPr>
        <p:txBody>
          <a:bodyPr wrap="square" rtlCol="0" anchor="ctr"/>
          <a:lstStyle/>
          <a:p>
            <a:pPr marL="0" indent="0">
              <a:buNone/>
            </a:pPr>
            <a:r>
              <a:rPr lang="en-US" sz="1400" b="1" dirty="0">
                <a:solidFill>
                  <a:srgbClr val="7E22CE"/>
                </a:solidFill>
                <a:latin typeface="Calibri" pitchFamily="34" charset="0"/>
                <a:ea typeface="Calibri" pitchFamily="34" charset="-122"/>
                <a:cs typeface="Calibri" pitchFamily="34" charset="-120"/>
              </a:rPr>
              <a:t>Matplotlib</a:t>
            </a:r>
            <a:endParaRPr lang="en-US" sz="1400" dirty="0"/>
          </a:p>
          <a:p>
            <a:pPr marL="0" indent="0">
              <a:buNone/>
            </a:pPr>
            <a:r>
              <a:rPr lang="en-US" sz="1400" b="1" dirty="0">
                <a:solidFill>
                  <a:srgbClr val="7E22CE"/>
                </a:solidFill>
                <a:latin typeface="Calibri" pitchFamily="34" charset="0"/>
                <a:ea typeface="Calibri" pitchFamily="34" charset="-122"/>
                <a:cs typeface="Calibri" pitchFamily="34" charset="-120"/>
              </a:rPr>
              <a:t>&amp; Seaborn</a:t>
            </a:r>
            <a:endParaRPr lang="en-US" sz="1400" dirty="0"/>
          </a:p>
        </p:txBody>
      </p:sp>
      <p:sp>
        <p:nvSpPr>
          <p:cNvPr id="17" name="Text 15"/>
          <p:cNvSpPr/>
          <p:nvPr/>
        </p:nvSpPr>
        <p:spPr>
          <a:xfrm>
            <a:off x="502920" y="3566160"/>
            <a:ext cx="2423160" cy="914400"/>
          </a:xfrm>
          <a:prstGeom prst="rect">
            <a:avLst/>
          </a:prstGeom>
          <a:noFill/>
          <a:ln/>
        </p:spPr>
        <p:txBody>
          <a:bodyPr wrap="square" rtlCol="0" anchor="t"/>
          <a:lstStyle/>
          <a:p>
            <a:pPr marL="0" indent="0">
              <a:buNone/>
            </a:pPr>
            <a:r>
              <a:rPr lang="en-US" sz="1050" dirty="0">
                <a:solidFill>
                  <a:srgbClr val="444444"/>
                </a:solidFill>
                <a:latin typeface="Calibri" pitchFamily="34" charset="0"/>
                <a:ea typeface="Calibri" pitchFamily="34" charset="-122"/>
                <a:cs typeface="Calibri" pitchFamily="34" charset="-120"/>
              </a:rPr>
              <a:t>Visualization libraries. Used to draw bar charts, pie charts, line graphs, and heatmaps.</a:t>
            </a:r>
            <a:endParaRPr lang="en-US" sz="1050" dirty="0"/>
          </a:p>
        </p:txBody>
      </p:sp>
      <p:sp>
        <p:nvSpPr>
          <p:cNvPr id="18" name="Text 16"/>
          <p:cNvSpPr/>
          <p:nvPr/>
        </p:nvSpPr>
        <p:spPr>
          <a:xfrm>
            <a:off x="502920" y="4526280"/>
            <a:ext cx="2423160" cy="256032"/>
          </a:xfrm>
          <a:prstGeom prst="rect">
            <a:avLst/>
          </a:prstGeom>
          <a:noFill/>
          <a:ln/>
        </p:spPr>
        <p:txBody>
          <a:bodyPr wrap="square" rtlCol="0" anchor="ctr"/>
          <a:lstStyle/>
          <a:p>
            <a:pPr marL="0" indent="0">
              <a:buNone/>
            </a:pPr>
            <a:endParaRPr lang="en-US" sz="950" dirty="0"/>
          </a:p>
        </p:txBody>
      </p:sp>
      <p:sp>
        <p:nvSpPr>
          <p:cNvPr id="19" name="Shape 17"/>
          <p:cNvSpPr/>
          <p:nvPr/>
        </p:nvSpPr>
        <p:spPr>
          <a:xfrm>
            <a:off x="3246120" y="3017520"/>
            <a:ext cx="2697480" cy="1828800"/>
          </a:xfrm>
          <a:prstGeom prst="roundRect">
            <a:avLst>
              <a:gd name="adj" fmla="val 5000"/>
            </a:avLst>
          </a:prstGeom>
          <a:solidFill>
            <a:srgbClr val="FFFBEB"/>
          </a:solidFill>
          <a:ln w="12700">
            <a:solidFill>
              <a:srgbClr val="FDE68A"/>
            </a:solidFill>
            <a:prstDash val="solid"/>
          </a:ln>
          <a:effectLst>
            <a:outerShdw blurRad="76200" dist="25400" dir="2700000" algn="bl" rotWithShape="0">
              <a:srgbClr val="000000">
                <a:alpha val="9000"/>
              </a:srgbClr>
            </a:outerShdw>
          </a:effectLst>
        </p:spPr>
      </p:sp>
      <p:sp>
        <p:nvSpPr>
          <p:cNvPr id="20" name="Text 18"/>
          <p:cNvSpPr/>
          <p:nvPr/>
        </p:nvSpPr>
        <p:spPr>
          <a:xfrm>
            <a:off x="3383280" y="3108960"/>
            <a:ext cx="2423160" cy="411480"/>
          </a:xfrm>
          <a:prstGeom prst="rect">
            <a:avLst/>
          </a:prstGeom>
          <a:noFill/>
          <a:ln/>
        </p:spPr>
        <p:txBody>
          <a:bodyPr wrap="square" rtlCol="0" anchor="ctr"/>
          <a:lstStyle/>
          <a:p>
            <a:pPr marL="0" indent="0">
              <a:buNone/>
            </a:pPr>
            <a:r>
              <a:rPr lang="en-US" sz="1400" b="1" dirty="0">
                <a:solidFill>
                  <a:srgbClr val="92400E"/>
                </a:solidFill>
                <a:latin typeface="Calibri" pitchFamily="34" charset="0"/>
                <a:ea typeface="Calibri" pitchFamily="34" charset="-122"/>
                <a:cs typeface="Calibri" pitchFamily="34" charset="-120"/>
              </a:rPr>
              <a:t>Jupyter</a:t>
            </a:r>
            <a:endParaRPr lang="en-US" sz="1400" dirty="0"/>
          </a:p>
          <a:p>
            <a:pPr marL="0" indent="0">
              <a:buNone/>
            </a:pPr>
            <a:r>
              <a:rPr lang="en-US" sz="1400" b="1" dirty="0">
                <a:solidFill>
                  <a:srgbClr val="92400E"/>
                </a:solidFill>
                <a:latin typeface="Calibri" pitchFamily="34" charset="0"/>
                <a:ea typeface="Calibri" pitchFamily="34" charset="-122"/>
                <a:cs typeface="Calibri" pitchFamily="34" charset="-120"/>
              </a:rPr>
              <a:t>Notebook</a:t>
            </a:r>
            <a:endParaRPr lang="en-US" sz="1400" dirty="0"/>
          </a:p>
        </p:txBody>
      </p:sp>
      <p:sp>
        <p:nvSpPr>
          <p:cNvPr id="21" name="Text 19"/>
          <p:cNvSpPr/>
          <p:nvPr/>
        </p:nvSpPr>
        <p:spPr>
          <a:xfrm>
            <a:off x="3383280" y="3566160"/>
            <a:ext cx="2423160" cy="914400"/>
          </a:xfrm>
          <a:prstGeom prst="rect">
            <a:avLst/>
          </a:prstGeom>
          <a:noFill/>
          <a:ln/>
        </p:spPr>
        <p:txBody>
          <a:bodyPr wrap="square" rtlCol="0" anchor="t"/>
          <a:lstStyle/>
          <a:p>
            <a:pPr marL="0" indent="0">
              <a:buNone/>
            </a:pPr>
            <a:r>
              <a:rPr lang="en-US" sz="1050" dirty="0">
                <a:solidFill>
                  <a:srgbClr val="444444"/>
                </a:solidFill>
                <a:latin typeface="Calibri" pitchFamily="34" charset="0"/>
                <a:ea typeface="Calibri" pitchFamily="34" charset="-122"/>
                <a:cs typeface="Calibri" pitchFamily="34" charset="-120"/>
              </a:rPr>
              <a:t>Used to run the ETL pipeline, SQL queries, and visualizations in an organized manner.</a:t>
            </a:r>
            <a:endParaRPr lang="en-US" sz="1050" dirty="0"/>
          </a:p>
        </p:txBody>
      </p:sp>
      <p:sp>
        <p:nvSpPr>
          <p:cNvPr id="22" name="Text 20"/>
          <p:cNvSpPr/>
          <p:nvPr/>
        </p:nvSpPr>
        <p:spPr>
          <a:xfrm>
            <a:off x="3383280" y="4526280"/>
            <a:ext cx="2423160" cy="256032"/>
          </a:xfrm>
          <a:prstGeom prst="rect">
            <a:avLst/>
          </a:prstGeom>
          <a:noFill/>
          <a:ln/>
        </p:spPr>
        <p:txBody>
          <a:bodyPr wrap="square" rtlCol="0" anchor="ctr"/>
          <a:lstStyle/>
          <a:p>
            <a:pPr marL="0" indent="0">
              <a:buNone/>
            </a:pP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rtlCol="0" anchor="ctr"/>
          <a:lstStyle/>
          <a:p>
            <a:pPr marL="0" indent="0">
              <a:buNone/>
            </a:pPr>
            <a:r>
              <a:rPr lang="en-US" sz="2800" b="1" dirty="0">
                <a:solidFill>
                  <a:srgbClr val="0A2540"/>
                </a:solidFill>
                <a:latin typeface="Calibri" pitchFamily="34" charset="0"/>
                <a:ea typeface="Calibri" pitchFamily="34" charset="-122"/>
                <a:cs typeface="Calibri" pitchFamily="34" charset="-120"/>
              </a:rPr>
              <a:t>Data Insights &amp; Visualizations</a:t>
            </a:r>
            <a:endParaRPr lang="en-US" sz="2800" dirty="0"/>
          </a:p>
        </p:txBody>
      </p:sp>
      <p:sp>
        <p:nvSpPr>
          <p:cNvPr id="3" name="Text 1"/>
          <p:cNvSpPr/>
          <p:nvPr/>
        </p:nvSpPr>
        <p:spPr>
          <a:xfrm>
            <a:off x="457200" y="804672"/>
            <a:ext cx="8229600" cy="320040"/>
          </a:xfrm>
          <a:prstGeom prst="rect">
            <a:avLst/>
          </a:prstGeom>
          <a:noFill/>
          <a:ln/>
        </p:spPr>
        <p:txBody>
          <a:bodyPr wrap="square" rtlCol="0" anchor="ctr"/>
          <a:lstStyle/>
          <a:p>
            <a:pPr marL="0" indent="0">
              <a:buNone/>
            </a:pPr>
            <a:r>
              <a:rPr lang="en-US" sz="1200" dirty="0">
                <a:solidFill>
                  <a:srgbClr val="64748B"/>
                </a:solidFill>
                <a:latin typeface="Calibri" pitchFamily="34" charset="0"/>
                <a:ea typeface="Calibri" pitchFamily="34" charset="-122"/>
                <a:cs typeface="Calibri" pitchFamily="34" charset="-120"/>
              </a:rPr>
              <a:t>10 charts generated from MySQL queries using Matplotlib and Seaborn</a:t>
            </a:r>
            <a:endParaRPr lang="en-US" sz="1200" dirty="0"/>
          </a:p>
        </p:txBody>
      </p:sp>
      <p:graphicFrame>
        <p:nvGraphicFramePr>
          <p:cNvPr id="4" name="Chart 0"/>
          <p:cNvGraphicFramePr/>
          <p:nvPr/>
        </p:nvGraphicFramePr>
        <p:xfrm>
          <a:off x="365760" y="1234440"/>
          <a:ext cx="4114800" cy="2560320"/>
        </p:xfrm>
        <a:graphic>
          <a:graphicData uri="http://schemas.openxmlformats.org/drawingml/2006/chart">
            <c:chart xmlns:c="http://schemas.openxmlformats.org/drawingml/2006/chart" xmlns:r="http://schemas.openxmlformats.org/officeDocument/2006/relationships" r:id="rId3"/>
          </a:graphicData>
        </a:graphic>
      </p:graphicFrame>
      <p:pic>
        <p:nvPicPr>
          <p:cNvPr id="6" name="Picture 2"/>
          <p:cNvPicPr>
            <a:picLocks noChangeAspect="1" noChangeArrowheads="1"/>
          </p:cNvPicPr>
          <p:nvPr/>
        </p:nvPicPr>
        <p:blipFill>
          <a:blip r:embed="rId4" cstate="print"/>
          <a:srcRect l="18274" t="17858" r="43428" b="6997"/>
          <a:stretch>
            <a:fillRect/>
          </a:stretch>
        </p:blipFill>
        <p:spPr bwMode="auto">
          <a:xfrm>
            <a:off x="5554673" y="1124711"/>
            <a:ext cx="3132127" cy="3361307"/>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rtlCol="0" anchor="ctr"/>
          <a:lstStyle/>
          <a:p>
            <a:pPr marL="0" indent="0">
              <a:buNone/>
            </a:pPr>
            <a:r>
              <a:rPr lang="en-US" sz="2800" b="1" dirty="0">
                <a:solidFill>
                  <a:srgbClr val="0A2540"/>
                </a:solidFill>
                <a:latin typeface="Calibri" pitchFamily="34" charset="0"/>
                <a:ea typeface="Calibri" pitchFamily="34" charset="-122"/>
                <a:cs typeface="Calibri" pitchFamily="34" charset="-120"/>
              </a:rPr>
              <a:t>More Visualizations</a:t>
            </a:r>
            <a:endParaRPr lang="en-US" sz="2800" dirty="0"/>
          </a:p>
        </p:txBody>
      </p:sp>
      <p:sp>
        <p:nvSpPr>
          <p:cNvPr id="5" name="Text 1"/>
          <p:cNvSpPr/>
          <p:nvPr/>
        </p:nvSpPr>
        <p:spPr>
          <a:xfrm>
            <a:off x="365760" y="3657600"/>
            <a:ext cx="8412480" cy="320040"/>
          </a:xfrm>
          <a:prstGeom prst="rect">
            <a:avLst/>
          </a:prstGeom>
          <a:noFill/>
          <a:ln/>
        </p:spPr>
        <p:txBody>
          <a:bodyPr wrap="square" rtlCol="0" anchor="ctr"/>
          <a:lstStyle/>
          <a:p>
            <a:pPr marL="0" indent="0">
              <a:buNone/>
            </a:pPr>
            <a:r>
              <a:rPr lang="en-US" sz="1200" b="1" dirty="0">
                <a:solidFill>
                  <a:srgbClr val="0A2540"/>
                </a:solidFill>
                <a:latin typeface="Calibri" pitchFamily="34" charset="0"/>
                <a:ea typeface="Calibri" pitchFamily="34" charset="-122"/>
                <a:cs typeface="Calibri" pitchFamily="34" charset="-120"/>
              </a:rPr>
              <a:t>All 10 Analytical Insights:</a:t>
            </a:r>
            <a:endParaRPr lang="en-US" sz="1200" dirty="0"/>
          </a:p>
        </p:txBody>
      </p:sp>
      <p:sp>
        <p:nvSpPr>
          <p:cNvPr id="6" name="Text 2"/>
          <p:cNvSpPr/>
          <p:nvPr/>
        </p:nvSpPr>
        <p:spPr>
          <a:xfrm>
            <a:off x="365760" y="4023360"/>
            <a:ext cx="4297680" cy="201168"/>
          </a:xfrm>
          <a:prstGeom prst="rect">
            <a:avLst/>
          </a:prstGeom>
          <a:noFill/>
          <a:ln/>
        </p:spPr>
        <p:txBody>
          <a:bodyPr wrap="square" rtlCol="0" anchor="ctr"/>
          <a:lstStyle/>
          <a:p>
            <a:pPr marL="0" indent="0">
              <a:buNone/>
            </a:pPr>
            <a:r>
              <a:rPr lang="en-US" sz="1000" dirty="0">
                <a:solidFill>
                  <a:srgbClr val="444444"/>
                </a:solidFill>
                <a:latin typeface="Calibri" pitchFamily="34" charset="0"/>
                <a:ea typeface="Calibri" pitchFamily="34" charset="-122"/>
                <a:cs typeface="Calibri" pitchFamily="34" charset="-120"/>
              </a:rPr>
              <a:t>1. Top 10 Most Prescribed Medicines</a:t>
            </a:r>
            <a:endParaRPr lang="en-US" sz="1000" dirty="0"/>
          </a:p>
        </p:txBody>
      </p:sp>
      <p:sp>
        <p:nvSpPr>
          <p:cNvPr id="7" name="Text 3"/>
          <p:cNvSpPr/>
          <p:nvPr/>
        </p:nvSpPr>
        <p:spPr>
          <a:xfrm>
            <a:off x="365760" y="4224528"/>
            <a:ext cx="4297680" cy="201168"/>
          </a:xfrm>
          <a:prstGeom prst="rect">
            <a:avLst/>
          </a:prstGeom>
          <a:noFill/>
          <a:ln/>
        </p:spPr>
        <p:txBody>
          <a:bodyPr wrap="square" rtlCol="0" anchor="ctr"/>
          <a:lstStyle/>
          <a:p>
            <a:pPr marL="0" indent="0">
              <a:buNone/>
            </a:pPr>
            <a:r>
              <a:rPr lang="en-US" sz="1000" dirty="0">
                <a:solidFill>
                  <a:srgbClr val="444444"/>
                </a:solidFill>
                <a:latin typeface="Calibri" pitchFamily="34" charset="0"/>
                <a:ea typeface="Calibri" pitchFamily="34" charset="-122"/>
                <a:cs typeface="Calibri" pitchFamily="34" charset="-120"/>
              </a:rPr>
              <a:t>2. Gender-wise Prescription Distribution</a:t>
            </a:r>
            <a:endParaRPr lang="en-US" sz="1000" dirty="0"/>
          </a:p>
        </p:txBody>
      </p:sp>
      <p:sp>
        <p:nvSpPr>
          <p:cNvPr id="8" name="Text 4"/>
          <p:cNvSpPr/>
          <p:nvPr/>
        </p:nvSpPr>
        <p:spPr>
          <a:xfrm>
            <a:off x="365760" y="4425696"/>
            <a:ext cx="4297680" cy="201168"/>
          </a:xfrm>
          <a:prstGeom prst="rect">
            <a:avLst/>
          </a:prstGeom>
          <a:noFill/>
          <a:ln/>
        </p:spPr>
        <p:txBody>
          <a:bodyPr wrap="square" rtlCol="0" anchor="ctr"/>
          <a:lstStyle/>
          <a:p>
            <a:pPr marL="0" indent="0">
              <a:buNone/>
            </a:pPr>
            <a:r>
              <a:rPr lang="en-US" sz="1000" dirty="0">
                <a:solidFill>
                  <a:srgbClr val="444444"/>
                </a:solidFill>
                <a:latin typeface="Calibri" pitchFamily="34" charset="0"/>
                <a:ea typeface="Calibri" pitchFamily="34" charset="-122"/>
                <a:cs typeface="Calibri" pitchFamily="34" charset="-120"/>
              </a:rPr>
              <a:t>3. Age Group vs Prescriptions</a:t>
            </a:r>
            <a:endParaRPr lang="en-US" sz="1000" dirty="0"/>
          </a:p>
        </p:txBody>
      </p:sp>
      <p:sp>
        <p:nvSpPr>
          <p:cNvPr id="9" name="Text 5"/>
          <p:cNvSpPr/>
          <p:nvPr/>
        </p:nvSpPr>
        <p:spPr>
          <a:xfrm>
            <a:off x="365760" y="4626864"/>
            <a:ext cx="4297680" cy="201168"/>
          </a:xfrm>
          <a:prstGeom prst="rect">
            <a:avLst/>
          </a:prstGeom>
          <a:noFill/>
          <a:ln/>
        </p:spPr>
        <p:txBody>
          <a:bodyPr wrap="square" rtlCol="0" anchor="ctr"/>
          <a:lstStyle/>
          <a:p>
            <a:pPr marL="0" indent="0">
              <a:buNone/>
            </a:pPr>
            <a:r>
              <a:rPr lang="en-US" sz="1000" dirty="0">
                <a:solidFill>
                  <a:srgbClr val="444444"/>
                </a:solidFill>
                <a:latin typeface="Calibri" pitchFamily="34" charset="0"/>
                <a:ea typeface="Calibri" pitchFamily="34" charset="-122"/>
                <a:cs typeface="Calibri" pitchFamily="34" charset="-120"/>
              </a:rPr>
              <a:t>4. Department-wise Prescription Volume</a:t>
            </a:r>
            <a:endParaRPr lang="en-US" sz="1000" dirty="0"/>
          </a:p>
        </p:txBody>
      </p:sp>
      <p:sp>
        <p:nvSpPr>
          <p:cNvPr id="10" name="Text 6"/>
          <p:cNvSpPr/>
          <p:nvPr/>
        </p:nvSpPr>
        <p:spPr>
          <a:xfrm>
            <a:off x="365760" y="4828032"/>
            <a:ext cx="4297680" cy="201168"/>
          </a:xfrm>
          <a:prstGeom prst="rect">
            <a:avLst/>
          </a:prstGeom>
          <a:noFill/>
          <a:ln/>
        </p:spPr>
        <p:txBody>
          <a:bodyPr wrap="square" rtlCol="0" anchor="ctr"/>
          <a:lstStyle/>
          <a:p>
            <a:pPr marL="0" indent="0">
              <a:buNone/>
            </a:pPr>
            <a:r>
              <a:rPr lang="en-US" sz="1000" dirty="0">
                <a:solidFill>
                  <a:srgbClr val="444444"/>
                </a:solidFill>
                <a:latin typeface="Calibri" pitchFamily="34" charset="0"/>
                <a:ea typeface="Calibri" pitchFamily="34" charset="-122"/>
                <a:cs typeface="Calibri" pitchFamily="34" charset="-120"/>
              </a:rPr>
              <a:t>5. Monthly Prescription Trend</a:t>
            </a:r>
            <a:endParaRPr lang="en-US" sz="1000" dirty="0"/>
          </a:p>
        </p:txBody>
      </p:sp>
      <p:sp>
        <p:nvSpPr>
          <p:cNvPr id="11" name="Text 7"/>
          <p:cNvSpPr/>
          <p:nvPr/>
        </p:nvSpPr>
        <p:spPr>
          <a:xfrm>
            <a:off x="4663440" y="4023360"/>
            <a:ext cx="4297680" cy="201168"/>
          </a:xfrm>
          <a:prstGeom prst="rect">
            <a:avLst/>
          </a:prstGeom>
          <a:noFill/>
          <a:ln/>
        </p:spPr>
        <p:txBody>
          <a:bodyPr wrap="square" rtlCol="0" anchor="ctr"/>
          <a:lstStyle/>
          <a:p>
            <a:pPr marL="0" indent="0">
              <a:buNone/>
            </a:pPr>
            <a:r>
              <a:rPr lang="en-US" sz="1000" dirty="0">
                <a:solidFill>
                  <a:srgbClr val="444444"/>
                </a:solidFill>
                <a:latin typeface="Calibri" pitchFamily="34" charset="0"/>
                <a:ea typeface="Calibri" pitchFamily="34" charset="-122"/>
                <a:cs typeface="Calibri" pitchFamily="34" charset="-120"/>
              </a:rPr>
              <a:t>6. Doctor-wise Volume + Outlier Detection</a:t>
            </a:r>
            <a:endParaRPr lang="en-US" sz="1000" dirty="0"/>
          </a:p>
        </p:txBody>
      </p:sp>
      <p:sp>
        <p:nvSpPr>
          <p:cNvPr id="12" name="Text 8"/>
          <p:cNvSpPr/>
          <p:nvPr/>
        </p:nvSpPr>
        <p:spPr>
          <a:xfrm>
            <a:off x="4663440" y="4224528"/>
            <a:ext cx="4297680" cy="201168"/>
          </a:xfrm>
          <a:prstGeom prst="rect">
            <a:avLst/>
          </a:prstGeom>
          <a:noFill/>
          <a:ln/>
        </p:spPr>
        <p:txBody>
          <a:bodyPr wrap="square" rtlCol="0" anchor="ctr"/>
          <a:lstStyle/>
          <a:p>
            <a:pPr marL="0" indent="0">
              <a:buNone/>
            </a:pPr>
            <a:r>
              <a:rPr lang="en-US" sz="1000" dirty="0">
                <a:solidFill>
                  <a:srgbClr val="444444"/>
                </a:solidFill>
                <a:latin typeface="Calibri" pitchFamily="34" charset="0"/>
                <a:ea typeface="Calibri" pitchFamily="34" charset="-122"/>
                <a:cs typeface="Calibri" pitchFamily="34" charset="-120"/>
              </a:rPr>
              <a:t>7. Top 10 Diseases by Admission</a:t>
            </a:r>
            <a:endParaRPr lang="en-US" sz="1000" dirty="0"/>
          </a:p>
        </p:txBody>
      </p:sp>
      <p:sp>
        <p:nvSpPr>
          <p:cNvPr id="13" name="Text 9"/>
          <p:cNvSpPr/>
          <p:nvPr/>
        </p:nvSpPr>
        <p:spPr>
          <a:xfrm>
            <a:off x="4663440" y="4425696"/>
            <a:ext cx="4297680" cy="201168"/>
          </a:xfrm>
          <a:prstGeom prst="rect">
            <a:avLst/>
          </a:prstGeom>
          <a:noFill/>
          <a:ln/>
        </p:spPr>
        <p:txBody>
          <a:bodyPr wrap="square" rtlCol="0" anchor="ctr"/>
          <a:lstStyle/>
          <a:p>
            <a:pPr marL="0" indent="0">
              <a:buNone/>
            </a:pPr>
            <a:r>
              <a:rPr lang="en-US" sz="1000" dirty="0">
                <a:solidFill>
                  <a:srgbClr val="444444"/>
                </a:solidFill>
                <a:latin typeface="Calibri" pitchFamily="34" charset="0"/>
                <a:ea typeface="Calibri" pitchFamily="34" charset="-122"/>
                <a:cs typeface="Calibri" pitchFamily="34" charset="-120"/>
              </a:rPr>
              <a:t>8. Drug Category Breakdown</a:t>
            </a:r>
            <a:endParaRPr lang="en-US" sz="1000" dirty="0"/>
          </a:p>
        </p:txBody>
      </p:sp>
      <p:sp>
        <p:nvSpPr>
          <p:cNvPr id="14" name="Text 10"/>
          <p:cNvSpPr/>
          <p:nvPr/>
        </p:nvSpPr>
        <p:spPr>
          <a:xfrm>
            <a:off x="4663440" y="4626864"/>
            <a:ext cx="4297680" cy="201168"/>
          </a:xfrm>
          <a:prstGeom prst="rect">
            <a:avLst/>
          </a:prstGeom>
          <a:noFill/>
          <a:ln/>
        </p:spPr>
        <p:txBody>
          <a:bodyPr wrap="square" rtlCol="0" anchor="ctr"/>
          <a:lstStyle/>
          <a:p>
            <a:pPr marL="0" indent="0">
              <a:buNone/>
            </a:pPr>
            <a:endParaRPr lang="en-US" sz="1000" dirty="0"/>
          </a:p>
        </p:txBody>
      </p:sp>
      <p:sp>
        <p:nvSpPr>
          <p:cNvPr id="15" name="Text 11"/>
          <p:cNvSpPr/>
          <p:nvPr/>
        </p:nvSpPr>
        <p:spPr>
          <a:xfrm>
            <a:off x="4663440" y="4626864"/>
            <a:ext cx="4297680" cy="201168"/>
          </a:xfrm>
          <a:prstGeom prst="rect">
            <a:avLst/>
          </a:prstGeom>
          <a:noFill/>
          <a:ln/>
        </p:spPr>
        <p:txBody>
          <a:bodyPr wrap="square" rtlCol="0" anchor="ctr"/>
          <a:lstStyle/>
          <a:p>
            <a:pPr marL="0" indent="0">
              <a:buNone/>
            </a:pPr>
            <a:r>
              <a:rPr lang="en-US" sz="1000" dirty="0" smtClean="0">
                <a:solidFill>
                  <a:srgbClr val="444444"/>
                </a:solidFill>
                <a:latin typeface="Calibri" pitchFamily="34" charset="0"/>
                <a:ea typeface="Calibri" pitchFamily="34" charset="-122"/>
                <a:cs typeface="Calibri" pitchFamily="34" charset="-120"/>
              </a:rPr>
              <a:t>9</a:t>
            </a:r>
            <a:r>
              <a:rPr lang="en-US" sz="1000" dirty="0" smtClean="0">
                <a:solidFill>
                  <a:srgbClr val="444444"/>
                </a:solidFill>
                <a:latin typeface="Calibri" pitchFamily="34" charset="0"/>
                <a:ea typeface="Calibri" pitchFamily="34" charset="-122"/>
                <a:cs typeface="Calibri" pitchFamily="34" charset="-120"/>
              </a:rPr>
              <a:t>. </a:t>
            </a:r>
            <a:r>
              <a:rPr lang="en-US" sz="1000" dirty="0">
                <a:solidFill>
                  <a:srgbClr val="444444"/>
                </a:solidFill>
                <a:latin typeface="Calibri" pitchFamily="34" charset="0"/>
                <a:ea typeface="Calibri" pitchFamily="34" charset="-122"/>
                <a:cs typeface="Calibri" pitchFamily="34" charset="-120"/>
              </a:rPr>
              <a:t>Low Drug Inventory Alert</a:t>
            </a:r>
            <a:endParaRPr lang="en-US" sz="1000" dirty="0"/>
          </a:p>
        </p:txBody>
      </p:sp>
      <p:pic>
        <p:nvPicPr>
          <p:cNvPr id="1027" name="Picture 3"/>
          <p:cNvPicPr>
            <a:picLocks noChangeAspect="1" noChangeArrowheads="1"/>
          </p:cNvPicPr>
          <p:nvPr/>
        </p:nvPicPr>
        <p:blipFill>
          <a:blip r:embed="rId3"/>
          <a:srcRect l="13621" t="25092" r="29385" b="16486"/>
          <a:stretch>
            <a:fillRect/>
          </a:stretch>
        </p:blipFill>
        <p:spPr bwMode="auto">
          <a:xfrm>
            <a:off x="2070537" y="767261"/>
            <a:ext cx="3957433" cy="2280745"/>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34511" y="2102069"/>
            <a:ext cx="5454869" cy="923330"/>
          </a:xfrm>
          <a:prstGeom prst="rect">
            <a:avLst/>
          </a:prstGeom>
          <a:noFill/>
        </p:spPr>
        <p:txBody>
          <a:bodyPr wrap="square" rtlCol="0">
            <a:spAutoFit/>
          </a:bodyPr>
          <a:lstStyle/>
          <a:p>
            <a:pPr algn="ctr"/>
            <a:r>
              <a:rPr lang="en-IN" sz="5400" dirty="0" smtClean="0"/>
              <a:t>THANK YOU</a:t>
            </a:r>
            <a:endParaRPr lang="en-US" sz="5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115</TotalTime>
  <Words>676</Words>
  <Application>Microsoft Office PowerPoint</Application>
  <PresentationFormat>On-screen Show (16:9)</PresentationFormat>
  <Paragraphs>93</Paragraphs>
  <Slides>8</Slides>
  <Notes>7</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Prescription Record Analysis</dc:title>
  <dc:subject>PptxGenJS Presentation</dc:subject>
  <dc:creator>PptxGenJS</dc:creator>
  <cp:lastModifiedBy>B DHAMU</cp:lastModifiedBy>
  <cp:revision>14</cp:revision>
  <dcterms:created xsi:type="dcterms:W3CDTF">2026-06-15T11:23:02Z</dcterms:created>
  <dcterms:modified xsi:type="dcterms:W3CDTF">2026-06-16T05:47:53Z</dcterms:modified>
</cp:coreProperties>
</file>